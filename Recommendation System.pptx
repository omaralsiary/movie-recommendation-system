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9" r:id="rId5"/>
    <p:sldId id="280" r:id="rId6"/>
    <p:sldId id="262" r:id="rId7"/>
    <p:sldId id="269" r:id="rId8"/>
    <p:sldId id="270" r:id="rId9"/>
    <p:sldId id="259" r:id="rId10"/>
    <p:sldId id="260" r:id="rId11"/>
    <p:sldId id="261" r:id="rId12"/>
    <p:sldId id="268" r:id="rId13"/>
    <p:sldId id="271" r:id="rId14"/>
    <p:sldId id="272" r:id="rId15"/>
    <p:sldId id="273" r:id="rId16"/>
    <p:sldId id="274" r:id="rId17"/>
    <p:sldId id="263" r:id="rId18"/>
    <p:sldId id="266" r:id="rId19"/>
    <p:sldId id="267" r:id="rId20"/>
    <p:sldId id="264" r:id="rId21"/>
    <p:sldId id="275" r:id="rId22"/>
    <p:sldId id="276" r:id="rId23"/>
    <p:sldId id="277" r:id="rId24"/>
    <p:sldId id="265" r:id="rId25"/>
    <p:sldId id="27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p:scale>
          <a:sx n="100" d="100"/>
          <a:sy n="100" d="100"/>
        </p:scale>
        <p:origin x="876" y="4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71488-A5DF-3559-7279-DCD4CDEB8B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470C429-E616-6BEC-EF69-486D6F39F6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881369-7F58-19BE-8F64-35EDE11CCC4B}"/>
              </a:ext>
            </a:extLst>
          </p:cNvPr>
          <p:cNvSpPr>
            <a:spLocks noGrp="1"/>
          </p:cNvSpPr>
          <p:nvPr>
            <p:ph type="dt" sz="half" idx="10"/>
          </p:nvPr>
        </p:nvSpPr>
        <p:spPr/>
        <p:txBody>
          <a:bodyPr/>
          <a:lstStyle/>
          <a:p>
            <a:fld id="{F14FE032-FC99-4EDE-8712-59A207DF6C7E}" type="datetimeFigureOut">
              <a:rPr lang="en-US" smtClean="0"/>
              <a:t>11/26/2024</a:t>
            </a:fld>
            <a:endParaRPr lang="en-US"/>
          </a:p>
        </p:txBody>
      </p:sp>
      <p:sp>
        <p:nvSpPr>
          <p:cNvPr id="5" name="Footer Placeholder 4">
            <a:extLst>
              <a:ext uri="{FF2B5EF4-FFF2-40B4-BE49-F238E27FC236}">
                <a16:creationId xmlns:a16="http://schemas.microsoft.com/office/drawing/2014/main" id="{3904ECF5-45B7-1E7C-5E85-3B7A45C10C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2F47F5-236A-1922-A1D2-BCC9CA4112B3}"/>
              </a:ext>
            </a:extLst>
          </p:cNvPr>
          <p:cNvSpPr>
            <a:spLocks noGrp="1"/>
          </p:cNvSpPr>
          <p:nvPr>
            <p:ph type="sldNum" sz="quarter" idx="12"/>
          </p:nvPr>
        </p:nvSpPr>
        <p:spPr/>
        <p:txBody>
          <a:bodyPr/>
          <a:lstStyle/>
          <a:p>
            <a:fld id="{51C8359F-E780-4D67-B0E9-E6DB9824E9A3}" type="slidenum">
              <a:rPr lang="en-US" smtClean="0"/>
              <a:t>‹#›</a:t>
            </a:fld>
            <a:endParaRPr lang="en-US"/>
          </a:p>
        </p:txBody>
      </p:sp>
    </p:spTree>
    <p:extLst>
      <p:ext uri="{BB962C8B-B14F-4D97-AF65-F5344CB8AC3E}">
        <p14:creationId xmlns:p14="http://schemas.microsoft.com/office/powerpoint/2010/main" val="787398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B4540-BDCE-AC78-CE64-19C811D893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241C49-F2CE-F529-55E8-A295B40467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22ADE0-EDFD-90AA-A8F5-0F390E607D36}"/>
              </a:ext>
            </a:extLst>
          </p:cNvPr>
          <p:cNvSpPr>
            <a:spLocks noGrp="1"/>
          </p:cNvSpPr>
          <p:nvPr>
            <p:ph type="dt" sz="half" idx="10"/>
          </p:nvPr>
        </p:nvSpPr>
        <p:spPr/>
        <p:txBody>
          <a:bodyPr/>
          <a:lstStyle/>
          <a:p>
            <a:fld id="{F14FE032-FC99-4EDE-8712-59A207DF6C7E}" type="datetimeFigureOut">
              <a:rPr lang="en-US" smtClean="0"/>
              <a:t>11/26/2024</a:t>
            </a:fld>
            <a:endParaRPr lang="en-US"/>
          </a:p>
        </p:txBody>
      </p:sp>
      <p:sp>
        <p:nvSpPr>
          <p:cNvPr id="5" name="Footer Placeholder 4">
            <a:extLst>
              <a:ext uri="{FF2B5EF4-FFF2-40B4-BE49-F238E27FC236}">
                <a16:creationId xmlns:a16="http://schemas.microsoft.com/office/drawing/2014/main" id="{46D07040-5C84-9265-620B-827E6F5DC7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25927-3A7B-7DD5-85B3-685D69BB124D}"/>
              </a:ext>
            </a:extLst>
          </p:cNvPr>
          <p:cNvSpPr>
            <a:spLocks noGrp="1"/>
          </p:cNvSpPr>
          <p:nvPr>
            <p:ph type="sldNum" sz="quarter" idx="12"/>
          </p:nvPr>
        </p:nvSpPr>
        <p:spPr/>
        <p:txBody>
          <a:bodyPr/>
          <a:lstStyle/>
          <a:p>
            <a:fld id="{51C8359F-E780-4D67-B0E9-E6DB9824E9A3}" type="slidenum">
              <a:rPr lang="en-US" smtClean="0"/>
              <a:t>‹#›</a:t>
            </a:fld>
            <a:endParaRPr lang="en-US"/>
          </a:p>
        </p:txBody>
      </p:sp>
    </p:spTree>
    <p:extLst>
      <p:ext uri="{BB962C8B-B14F-4D97-AF65-F5344CB8AC3E}">
        <p14:creationId xmlns:p14="http://schemas.microsoft.com/office/powerpoint/2010/main" val="1546960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38178-86B1-117F-E604-13110E6BBF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A9B867-C1F9-4ECA-79B6-CC8B162C05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9D18FB-B7B0-A923-3484-3571B152F640}"/>
              </a:ext>
            </a:extLst>
          </p:cNvPr>
          <p:cNvSpPr>
            <a:spLocks noGrp="1"/>
          </p:cNvSpPr>
          <p:nvPr>
            <p:ph type="dt" sz="half" idx="10"/>
          </p:nvPr>
        </p:nvSpPr>
        <p:spPr/>
        <p:txBody>
          <a:bodyPr/>
          <a:lstStyle/>
          <a:p>
            <a:fld id="{F14FE032-FC99-4EDE-8712-59A207DF6C7E}" type="datetimeFigureOut">
              <a:rPr lang="en-US" smtClean="0"/>
              <a:t>11/26/2024</a:t>
            </a:fld>
            <a:endParaRPr lang="en-US"/>
          </a:p>
        </p:txBody>
      </p:sp>
      <p:sp>
        <p:nvSpPr>
          <p:cNvPr id="5" name="Footer Placeholder 4">
            <a:extLst>
              <a:ext uri="{FF2B5EF4-FFF2-40B4-BE49-F238E27FC236}">
                <a16:creationId xmlns:a16="http://schemas.microsoft.com/office/drawing/2014/main" id="{DE77FDB3-68A5-5494-38F1-E36D76BD3C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27A49E-16D1-3FD4-7A17-5EFD0C582BB5}"/>
              </a:ext>
            </a:extLst>
          </p:cNvPr>
          <p:cNvSpPr>
            <a:spLocks noGrp="1"/>
          </p:cNvSpPr>
          <p:nvPr>
            <p:ph type="sldNum" sz="quarter" idx="12"/>
          </p:nvPr>
        </p:nvSpPr>
        <p:spPr/>
        <p:txBody>
          <a:bodyPr/>
          <a:lstStyle/>
          <a:p>
            <a:fld id="{51C8359F-E780-4D67-B0E9-E6DB9824E9A3}" type="slidenum">
              <a:rPr lang="en-US" smtClean="0"/>
              <a:t>‹#›</a:t>
            </a:fld>
            <a:endParaRPr lang="en-US"/>
          </a:p>
        </p:txBody>
      </p:sp>
    </p:spTree>
    <p:extLst>
      <p:ext uri="{BB962C8B-B14F-4D97-AF65-F5344CB8AC3E}">
        <p14:creationId xmlns:p14="http://schemas.microsoft.com/office/powerpoint/2010/main" val="2281824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A6092-27C1-87F4-CC1C-800468BCE1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A0A1AB-2353-EAC5-AD17-D1BC915680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7B682B-576A-C334-1E3D-6DAA90DAF7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D62B0A-B96A-2CCA-7AB8-FE98EFB48738}"/>
              </a:ext>
            </a:extLst>
          </p:cNvPr>
          <p:cNvSpPr>
            <a:spLocks noGrp="1"/>
          </p:cNvSpPr>
          <p:nvPr>
            <p:ph type="dt" sz="half" idx="10"/>
          </p:nvPr>
        </p:nvSpPr>
        <p:spPr/>
        <p:txBody>
          <a:bodyPr/>
          <a:lstStyle/>
          <a:p>
            <a:fld id="{F14FE032-FC99-4EDE-8712-59A207DF6C7E}" type="datetimeFigureOut">
              <a:rPr lang="en-US" smtClean="0"/>
              <a:t>11/26/2024</a:t>
            </a:fld>
            <a:endParaRPr lang="en-US"/>
          </a:p>
        </p:txBody>
      </p:sp>
      <p:sp>
        <p:nvSpPr>
          <p:cNvPr id="6" name="Footer Placeholder 5">
            <a:extLst>
              <a:ext uri="{FF2B5EF4-FFF2-40B4-BE49-F238E27FC236}">
                <a16:creationId xmlns:a16="http://schemas.microsoft.com/office/drawing/2014/main" id="{C4A5234D-7E98-0881-9DEB-506E3F9337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0854C0-BAD8-4048-BB28-C627861AA47F}"/>
              </a:ext>
            </a:extLst>
          </p:cNvPr>
          <p:cNvSpPr>
            <a:spLocks noGrp="1"/>
          </p:cNvSpPr>
          <p:nvPr>
            <p:ph type="sldNum" sz="quarter" idx="12"/>
          </p:nvPr>
        </p:nvSpPr>
        <p:spPr/>
        <p:txBody>
          <a:bodyPr/>
          <a:lstStyle/>
          <a:p>
            <a:fld id="{51C8359F-E780-4D67-B0E9-E6DB9824E9A3}" type="slidenum">
              <a:rPr lang="en-US" smtClean="0"/>
              <a:t>‹#›</a:t>
            </a:fld>
            <a:endParaRPr lang="en-US"/>
          </a:p>
        </p:txBody>
      </p:sp>
    </p:spTree>
    <p:extLst>
      <p:ext uri="{BB962C8B-B14F-4D97-AF65-F5344CB8AC3E}">
        <p14:creationId xmlns:p14="http://schemas.microsoft.com/office/powerpoint/2010/main" val="2765909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269D3-4FB3-044A-5F06-7CAC5FF5A0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3A0059-B165-CAE1-CDF5-CACF4BD23E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1FEB6B-0710-4190-4DBE-0A5F67216F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C64B4E-35B4-F7C5-1724-E52FF1814A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8D4BB5-14DA-DD50-350E-9C933BB5BF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E6438D-2DA2-D1D3-B099-1B7FC8EE6C42}"/>
              </a:ext>
            </a:extLst>
          </p:cNvPr>
          <p:cNvSpPr>
            <a:spLocks noGrp="1"/>
          </p:cNvSpPr>
          <p:nvPr>
            <p:ph type="dt" sz="half" idx="10"/>
          </p:nvPr>
        </p:nvSpPr>
        <p:spPr/>
        <p:txBody>
          <a:bodyPr/>
          <a:lstStyle/>
          <a:p>
            <a:fld id="{F14FE032-FC99-4EDE-8712-59A207DF6C7E}" type="datetimeFigureOut">
              <a:rPr lang="en-US" smtClean="0"/>
              <a:t>11/26/2024</a:t>
            </a:fld>
            <a:endParaRPr lang="en-US"/>
          </a:p>
        </p:txBody>
      </p:sp>
      <p:sp>
        <p:nvSpPr>
          <p:cNvPr id="8" name="Footer Placeholder 7">
            <a:extLst>
              <a:ext uri="{FF2B5EF4-FFF2-40B4-BE49-F238E27FC236}">
                <a16:creationId xmlns:a16="http://schemas.microsoft.com/office/drawing/2014/main" id="{F71E9DB8-DF2C-851B-CD4B-2B51017A4D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6BA00D-3A9C-DCB4-A837-18F9A4CDC18E}"/>
              </a:ext>
            </a:extLst>
          </p:cNvPr>
          <p:cNvSpPr>
            <a:spLocks noGrp="1"/>
          </p:cNvSpPr>
          <p:nvPr>
            <p:ph type="sldNum" sz="quarter" idx="12"/>
          </p:nvPr>
        </p:nvSpPr>
        <p:spPr/>
        <p:txBody>
          <a:bodyPr/>
          <a:lstStyle/>
          <a:p>
            <a:fld id="{51C8359F-E780-4D67-B0E9-E6DB9824E9A3}" type="slidenum">
              <a:rPr lang="en-US" smtClean="0"/>
              <a:t>‹#›</a:t>
            </a:fld>
            <a:endParaRPr lang="en-US"/>
          </a:p>
        </p:txBody>
      </p:sp>
    </p:spTree>
    <p:extLst>
      <p:ext uri="{BB962C8B-B14F-4D97-AF65-F5344CB8AC3E}">
        <p14:creationId xmlns:p14="http://schemas.microsoft.com/office/powerpoint/2010/main" val="247182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F2A0C-8989-CD14-249D-059A72B9E8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2200BD-7AFF-8421-E65A-0B3165CFD396}"/>
              </a:ext>
            </a:extLst>
          </p:cNvPr>
          <p:cNvSpPr>
            <a:spLocks noGrp="1"/>
          </p:cNvSpPr>
          <p:nvPr>
            <p:ph type="dt" sz="half" idx="10"/>
          </p:nvPr>
        </p:nvSpPr>
        <p:spPr/>
        <p:txBody>
          <a:bodyPr/>
          <a:lstStyle/>
          <a:p>
            <a:fld id="{F14FE032-FC99-4EDE-8712-59A207DF6C7E}" type="datetimeFigureOut">
              <a:rPr lang="en-US" smtClean="0"/>
              <a:t>11/26/2024</a:t>
            </a:fld>
            <a:endParaRPr lang="en-US"/>
          </a:p>
        </p:txBody>
      </p:sp>
      <p:sp>
        <p:nvSpPr>
          <p:cNvPr id="4" name="Footer Placeholder 3">
            <a:extLst>
              <a:ext uri="{FF2B5EF4-FFF2-40B4-BE49-F238E27FC236}">
                <a16:creationId xmlns:a16="http://schemas.microsoft.com/office/drawing/2014/main" id="{B55AA18D-0E57-05FA-2A41-3CAA95AA9B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A239548-7552-95A0-D391-0645059D7F2F}"/>
              </a:ext>
            </a:extLst>
          </p:cNvPr>
          <p:cNvSpPr>
            <a:spLocks noGrp="1"/>
          </p:cNvSpPr>
          <p:nvPr>
            <p:ph type="sldNum" sz="quarter" idx="12"/>
          </p:nvPr>
        </p:nvSpPr>
        <p:spPr/>
        <p:txBody>
          <a:bodyPr/>
          <a:lstStyle/>
          <a:p>
            <a:fld id="{51C8359F-E780-4D67-B0E9-E6DB9824E9A3}" type="slidenum">
              <a:rPr lang="en-US" smtClean="0"/>
              <a:t>‹#›</a:t>
            </a:fld>
            <a:endParaRPr lang="en-US"/>
          </a:p>
        </p:txBody>
      </p:sp>
    </p:spTree>
    <p:extLst>
      <p:ext uri="{BB962C8B-B14F-4D97-AF65-F5344CB8AC3E}">
        <p14:creationId xmlns:p14="http://schemas.microsoft.com/office/powerpoint/2010/main" val="2761374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9BFAEC-E10D-2486-A949-1EEF6643F0DF}"/>
              </a:ext>
            </a:extLst>
          </p:cNvPr>
          <p:cNvSpPr>
            <a:spLocks noGrp="1"/>
          </p:cNvSpPr>
          <p:nvPr>
            <p:ph type="dt" sz="half" idx="10"/>
          </p:nvPr>
        </p:nvSpPr>
        <p:spPr/>
        <p:txBody>
          <a:bodyPr/>
          <a:lstStyle/>
          <a:p>
            <a:fld id="{F14FE032-FC99-4EDE-8712-59A207DF6C7E}" type="datetimeFigureOut">
              <a:rPr lang="en-US" smtClean="0"/>
              <a:t>11/26/2024</a:t>
            </a:fld>
            <a:endParaRPr lang="en-US"/>
          </a:p>
        </p:txBody>
      </p:sp>
      <p:sp>
        <p:nvSpPr>
          <p:cNvPr id="3" name="Footer Placeholder 2">
            <a:extLst>
              <a:ext uri="{FF2B5EF4-FFF2-40B4-BE49-F238E27FC236}">
                <a16:creationId xmlns:a16="http://schemas.microsoft.com/office/drawing/2014/main" id="{29406AE6-B674-790C-3CA6-2239A73B5C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B09021-ADBA-734F-9F17-3B5D5E047FAE}"/>
              </a:ext>
            </a:extLst>
          </p:cNvPr>
          <p:cNvSpPr>
            <a:spLocks noGrp="1"/>
          </p:cNvSpPr>
          <p:nvPr>
            <p:ph type="sldNum" sz="quarter" idx="12"/>
          </p:nvPr>
        </p:nvSpPr>
        <p:spPr/>
        <p:txBody>
          <a:bodyPr/>
          <a:lstStyle/>
          <a:p>
            <a:fld id="{51C8359F-E780-4D67-B0E9-E6DB9824E9A3}" type="slidenum">
              <a:rPr lang="en-US" smtClean="0"/>
              <a:t>‹#›</a:t>
            </a:fld>
            <a:endParaRPr lang="en-US"/>
          </a:p>
        </p:txBody>
      </p:sp>
    </p:spTree>
    <p:extLst>
      <p:ext uri="{BB962C8B-B14F-4D97-AF65-F5344CB8AC3E}">
        <p14:creationId xmlns:p14="http://schemas.microsoft.com/office/powerpoint/2010/main" val="3022992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D471C-9ED1-B88F-5E0C-532A8C237D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495183-7DA1-DA2E-ADC5-E6E2D24555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FD7C62-12B4-8761-A954-F24DAD0C49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625C21-972E-245D-AC7E-BE6227048F66}"/>
              </a:ext>
            </a:extLst>
          </p:cNvPr>
          <p:cNvSpPr>
            <a:spLocks noGrp="1"/>
          </p:cNvSpPr>
          <p:nvPr>
            <p:ph type="dt" sz="half" idx="10"/>
          </p:nvPr>
        </p:nvSpPr>
        <p:spPr/>
        <p:txBody>
          <a:bodyPr/>
          <a:lstStyle/>
          <a:p>
            <a:fld id="{F14FE032-FC99-4EDE-8712-59A207DF6C7E}" type="datetimeFigureOut">
              <a:rPr lang="en-US" smtClean="0"/>
              <a:t>11/26/2024</a:t>
            </a:fld>
            <a:endParaRPr lang="en-US"/>
          </a:p>
        </p:txBody>
      </p:sp>
      <p:sp>
        <p:nvSpPr>
          <p:cNvPr id="6" name="Footer Placeholder 5">
            <a:extLst>
              <a:ext uri="{FF2B5EF4-FFF2-40B4-BE49-F238E27FC236}">
                <a16:creationId xmlns:a16="http://schemas.microsoft.com/office/drawing/2014/main" id="{99262051-CFCF-D6AA-E825-5483587580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DB1D41-7F6A-98D1-A79C-A27AA7104599}"/>
              </a:ext>
            </a:extLst>
          </p:cNvPr>
          <p:cNvSpPr>
            <a:spLocks noGrp="1"/>
          </p:cNvSpPr>
          <p:nvPr>
            <p:ph type="sldNum" sz="quarter" idx="12"/>
          </p:nvPr>
        </p:nvSpPr>
        <p:spPr/>
        <p:txBody>
          <a:bodyPr/>
          <a:lstStyle/>
          <a:p>
            <a:fld id="{51C8359F-E780-4D67-B0E9-E6DB9824E9A3}" type="slidenum">
              <a:rPr lang="en-US" smtClean="0"/>
              <a:t>‹#›</a:t>
            </a:fld>
            <a:endParaRPr lang="en-US"/>
          </a:p>
        </p:txBody>
      </p:sp>
    </p:spTree>
    <p:extLst>
      <p:ext uri="{BB962C8B-B14F-4D97-AF65-F5344CB8AC3E}">
        <p14:creationId xmlns:p14="http://schemas.microsoft.com/office/powerpoint/2010/main" val="663929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EDF54-6F16-1325-53A4-412D1156AC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1F3A74-E1EB-D6C6-17E4-5AED979254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7B8E85-90F1-0C6B-EA9F-0B86258AE8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5F42D7-31CC-1F07-9FDB-2F11D8346252}"/>
              </a:ext>
            </a:extLst>
          </p:cNvPr>
          <p:cNvSpPr>
            <a:spLocks noGrp="1"/>
          </p:cNvSpPr>
          <p:nvPr>
            <p:ph type="dt" sz="half" idx="10"/>
          </p:nvPr>
        </p:nvSpPr>
        <p:spPr/>
        <p:txBody>
          <a:bodyPr/>
          <a:lstStyle/>
          <a:p>
            <a:fld id="{F14FE032-FC99-4EDE-8712-59A207DF6C7E}" type="datetimeFigureOut">
              <a:rPr lang="en-US" smtClean="0"/>
              <a:t>11/26/2024</a:t>
            </a:fld>
            <a:endParaRPr lang="en-US"/>
          </a:p>
        </p:txBody>
      </p:sp>
      <p:sp>
        <p:nvSpPr>
          <p:cNvPr id="6" name="Footer Placeholder 5">
            <a:extLst>
              <a:ext uri="{FF2B5EF4-FFF2-40B4-BE49-F238E27FC236}">
                <a16:creationId xmlns:a16="http://schemas.microsoft.com/office/drawing/2014/main" id="{17382E51-08BD-7082-29E2-B282F06C1E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A0C315-4B2C-60FD-2EF0-B3E1D1A5302F}"/>
              </a:ext>
            </a:extLst>
          </p:cNvPr>
          <p:cNvSpPr>
            <a:spLocks noGrp="1"/>
          </p:cNvSpPr>
          <p:nvPr>
            <p:ph type="sldNum" sz="quarter" idx="12"/>
          </p:nvPr>
        </p:nvSpPr>
        <p:spPr/>
        <p:txBody>
          <a:bodyPr/>
          <a:lstStyle/>
          <a:p>
            <a:fld id="{51C8359F-E780-4D67-B0E9-E6DB9824E9A3}" type="slidenum">
              <a:rPr lang="en-US" smtClean="0"/>
              <a:t>‹#›</a:t>
            </a:fld>
            <a:endParaRPr lang="en-US"/>
          </a:p>
        </p:txBody>
      </p:sp>
    </p:spTree>
    <p:extLst>
      <p:ext uri="{BB962C8B-B14F-4D97-AF65-F5344CB8AC3E}">
        <p14:creationId xmlns:p14="http://schemas.microsoft.com/office/powerpoint/2010/main" val="3146980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C7DA5-F004-BACB-8CB8-8EC9878603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024E831-C250-C510-5B3F-EDFB7512F8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DFF6A3-4520-67C4-E3B2-CB9B9C7C9D67}"/>
              </a:ext>
            </a:extLst>
          </p:cNvPr>
          <p:cNvSpPr>
            <a:spLocks noGrp="1"/>
          </p:cNvSpPr>
          <p:nvPr>
            <p:ph type="dt" sz="half" idx="10"/>
          </p:nvPr>
        </p:nvSpPr>
        <p:spPr/>
        <p:txBody>
          <a:bodyPr/>
          <a:lstStyle/>
          <a:p>
            <a:fld id="{F14FE032-FC99-4EDE-8712-59A207DF6C7E}" type="datetimeFigureOut">
              <a:rPr lang="en-US" smtClean="0"/>
              <a:t>11/26/2024</a:t>
            </a:fld>
            <a:endParaRPr lang="en-US"/>
          </a:p>
        </p:txBody>
      </p:sp>
      <p:sp>
        <p:nvSpPr>
          <p:cNvPr id="5" name="Footer Placeholder 4">
            <a:extLst>
              <a:ext uri="{FF2B5EF4-FFF2-40B4-BE49-F238E27FC236}">
                <a16:creationId xmlns:a16="http://schemas.microsoft.com/office/drawing/2014/main" id="{8B691CB5-264D-7416-E8E9-198E7B1541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6A505-4FBF-F016-4FDB-B6CA9838568A}"/>
              </a:ext>
            </a:extLst>
          </p:cNvPr>
          <p:cNvSpPr>
            <a:spLocks noGrp="1"/>
          </p:cNvSpPr>
          <p:nvPr>
            <p:ph type="sldNum" sz="quarter" idx="12"/>
          </p:nvPr>
        </p:nvSpPr>
        <p:spPr/>
        <p:txBody>
          <a:bodyPr/>
          <a:lstStyle/>
          <a:p>
            <a:fld id="{51C8359F-E780-4D67-B0E9-E6DB9824E9A3}" type="slidenum">
              <a:rPr lang="en-US" smtClean="0"/>
              <a:t>‹#›</a:t>
            </a:fld>
            <a:endParaRPr lang="en-US"/>
          </a:p>
        </p:txBody>
      </p:sp>
    </p:spTree>
    <p:extLst>
      <p:ext uri="{BB962C8B-B14F-4D97-AF65-F5344CB8AC3E}">
        <p14:creationId xmlns:p14="http://schemas.microsoft.com/office/powerpoint/2010/main" val="619866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CE4AA5-83F5-4C06-9AF3-1D16DE2B43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7F29F8-E22C-D5EB-2C1A-DEE2FEFE5B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56C367-F6D7-A8A4-BF17-7D87886ECFAA}"/>
              </a:ext>
            </a:extLst>
          </p:cNvPr>
          <p:cNvSpPr>
            <a:spLocks noGrp="1"/>
          </p:cNvSpPr>
          <p:nvPr>
            <p:ph type="dt" sz="half" idx="10"/>
          </p:nvPr>
        </p:nvSpPr>
        <p:spPr/>
        <p:txBody>
          <a:bodyPr/>
          <a:lstStyle/>
          <a:p>
            <a:fld id="{F14FE032-FC99-4EDE-8712-59A207DF6C7E}" type="datetimeFigureOut">
              <a:rPr lang="en-US" smtClean="0"/>
              <a:t>11/26/2024</a:t>
            </a:fld>
            <a:endParaRPr lang="en-US"/>
          </a:p>
        </p:txBody>
      </p:sp>
      <p:sp>
        <p:nvSpPr>
          <p:cNvPr id="5" name="Footer Placeholder 4">
            <a:extLst>
              <a:ext uri="{FF2B5EF4-FFF2-40B4-BE49-F238E27FC236}">
                <a16:creationId xmlns:a16="http://schemas.microsoft.com/office/drawing/2014/main" id="{1E6CC7D7-01B5-2F01-9BEB-8DCE258B67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A01757-E1A6-E859-2EC7-DCD7C874403F}"/>
              </a:ext>
            </a:extLst>
          </p:cNvPr>
          <p:cNvSpPr>
            <a:spLocks noGrp="1"/>
          </p:cNvSpPr>
          <p:nvPr>
            <p:ph type="sldNum" sz="quarter" idx="12"/>
          </p:nvPr>
        </p:nvSpPr>
        <p:spPr/>
        <p:txBody>
          <a:bodyPr/>
          <a:lstStyle/>
          <a:p>
            <a:fld id="{51C8359F-E780-4D67-B0E9-E6DB9824E9A3}" type="slidenum">
              <a:rPr lang="en-US" smtClean="0"/>
              <a:t>‹#›</a:t>
            </a:fld>
            <a:endParaRPr lang="en-US"/>
          </a:p>
        </p:txBody>
      </p:sp>
    </p:spTree>
    <p:extLst>
      <p:ext uri="{BB962C8B-B14F-4D97-AF65-F5344CB8AC3E}">
        <p14:creationId xmlns:p14="http://schemas.microsoft.com/office/powerpoint/2010/main" val="3307827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35A59A-F27B-5308-8192-1913DE8D8C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707465-EB16-429E-ECC0-5F954B3217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69665D-7DDE-095B-3286-528482CFA8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4FE032-FC99-4EDE-8712-59A207DF6C7E}" type="datetimeFigureOut">
              <a:rPr lang="en-US" smtClean="0"/>
              <a:t>11/26/2024</a:t>
            </a:fld>
            <a:endParaRPr lang="en-US"/>
          </a:p>
        </p:txBody>
      </p:sp>
      <p:sp>
        <p:nvSpPr>
          <p:cNvPr id="5" name="Footer Placeholder 4">
            <a:extLst>
              <a:ext uri="{FF2B5EF4-FFF2-40B4-BE49-F238E27FC236}">
                <a16:creationId xmlns:a16="http://schemas.microsoft.com/office/drawing/2014/main" id="{82E32193-BC3A-D887-0DF5-85C769CDF0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AC9FAA-38BE-F8B2-3CA8-C26791A03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C8359F-E780-4D67-B0E9-E6DB9824E9A3}" type="slidenum">
              <a:rPr lang="en-US" smtClean="0"/>
              <a:t>‹#›</a:t>
            </a:fld>
            <a:endParaRPr lang="en-US"/>
          </a:p>
        </p:txBody>
      </p:sp>
    </p:spTree>
    <p:extLst>
      <p:ext uri="{BB962C8B-B14F-4D97-AF65-F5344CB8AC3E}">
        <p14:creationId xmlns:p14="http://schemas.microsoft.com/office/powerpoint/2010/main" val="155956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grouplens.org/datasets/movielen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56C4CD-E574-6E05-37DE-052E623F90F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0038" y="2738822"/>
            <a:ext cx="603514" cy="656132"/>
          </a:xfrm>
          <a:prstGeom prst="rect">
            <a:avLst/>
          </a:prstGeom>
          <a:noFill/>
          <a:ln>
            <a:noFill/>
          </a:ln>
        </p:spPr>
      </p:pic>
      <p:sp>
        <p:nvSpPr>
          <p:cNvPr id="2" name="Title 1">
            <a:extLst>
              <a:ext uri="{FF2B5EF4-FFF2-40B4-BE49-F238E27FC236}">
                <a16:creationId xmlns:a16="http://schemas.microsoft.com/office/drawing/2014/main" id="{8A3A41C9-0409-9B2D-C9AE-62AA405E4104}"/>
              </a:ext>
            </a:extLst>
          </p:cNvPr>
          <p:cNvSpPr>
            <a:spLocks noGrp="1"/>
          </p:cNvSpPr>
          <p:nvPr>
            <p:ph type="ctrTitle"/>
          </p:nvPr>
        </p:nvSpPr>
        <p:spPr/>
        <p:txBody>
          <a:bodyPr/>
          <a:lstStyle/>
          <a:p>
            <a:r>
              <a:rPr lang="en-US" dirty="0" err="1"/>
              <a:t>ecommendation</a:t>
            </a:r>
            <a:r>
              <a:rPr lang="en-US" dirty="0"/>
              <a:t> System</a:t>
            </a:r>
          </a:p>
        </p:txBody>
      </p:sp>
      <p:sp>
        <p:nvSpPr>
          <p:cNvPr id="3" name="Subtitle 2">
            <a:extLst>
              <a:ext uri="{FF2B5EF4-FFF2-40B4-BE49-F238E27FC236}">
                <a16:creationId xmlns:a16="http://schemas.microsoft.com/office/drawing/2014/main" id="{9A054A66-584E-132E-C0EF-9199BDD45EC0}"/>
              </a:ext>
            </a:extLst>
          </p:cNvPr>
          <p:cNvSpPr>
            <a:spLocks noGrp="1"/>
          </p:cNvSpPr>
          <p:nvPr>
            <p:ph type="subTitle" idx="1"/>
          </p:nvPr>
        </p:nvSpPr>
        <p:spPr>
          <a:xfrm>
            <a:off x="1524000" y="3602037"/>
            <a:ext cx="9144000" cy="1746797"/>
          </a:xfrm>
        </p:spPr>
        <p:txBody>
          <a:bodyPr>
            <a:normAutofit lnSpcReduction="10000"/>
          </a:bodyPr>
          <a:lstStyle/>
          <a:p>
            <a:r>
              <a:rPr lang="en-US" dirty="0"/>
              <a:t>Turki Khalid Alqahtani 2236938 </a:t>
            </a:r>
          </a:p>
          <a:p>
            <a:r>
              <a:rPr lang="en-US" dirty="0"/>
              <a:t>Rayan </a:t>
            </a:r>
            <a:r>
              <a:rPr lang="en-US" dirty="0" err="1"/>
              <a:t>Yosof</a:t>
            </a:r>
            <a:r>
              <a:rPr lang="en-US" dirty="0"/>
              <a:t> Fadhil 2135390 </a:t>
            </a:r>
          </a:p>
          <a:p>
            <a:r>
              <a:rPr lang="en-US" dirty="0"/>
              <a:t>Raed Ahmed </a:t>
            </a:r>
            <a:r>
              <a:rPr lang="en-US" dirty="0" err="1"/>
              <a:t>Alsafry</a:t>
            </a:r>
            <a:r>
              <a:rPr lang="en-US" dirty="0"/>
              <a:t> 2236088 </a:t>
            </a:r>
          </a:p>
          <a:p>
            <a:r>
              <a:rPr lang="en-US" dirty="0"/>
              <a:t>Omar Waleed </a:t>
            </a:r>
            <a:r>
              <a:rPr lang="en-US" dirty="0" err="1"/>
              <a:t>Alsiary</a:t>
            </a:r>
            <a:r>
              <a:rPr lang="en-US" dirty="0"/>
              <a:t> 2236983 </a:t>
            </a:r>
          </a:p>
        </p:txBody>
      </p:sp>
      <p:pic>
        <p:nvPicPr>
          <p:cNvPr id="6" name="Picture 5">
            <a:extLst>
              <a:ext uri="{FF2B5EF4-FFF2-40B4-BE49-F238E27FC236}">
                <a16:creationId xmlns:a16="http://schemas.microsoft.com/office/drawing/2014/main" id="{2881FBBC-0B19-59E4-42AB-154C2912298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87660" y="759107"/>
            <a:ext cx="1432189" cy="1557056"/>
          </a:xfrm>
          <a:prstGeom prst="rect">
            <a:avLst/>
          </a:prstGeom>
          <a:noFill/>
          <a:ln>
            <a:noFill/>
          </a:ln>
        </p:spPr>
      </p:pic>
    </p:spTree>
    <p:extLst>
      <p:ext uri="{BB962C8B-B14F-4D97-AF65-F5344CB8AC3E}">
        <p14:creationId xmlns:p14="http://schemas.microsoft.com/office/powerpoint/2010/main" val="1039801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DA05AB-5213-9D84-6575-3A5FA7DC3627}"/>
              </a:ext>
            </a:extLst>
          </p:cNvPr>
          <p:cNvSpPr/>
          <p:nvPr/>
        </p:nvSpPr>
        <p:spPr>
          <a:xfrm>
            <a:off x="509588" y="2766219"/>
            <a:ext cx="1314450" cy="13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1</a:t>
            </a:r>
          </a:p>
        </p:txBody>
      </p:sp>
      <p:sp>
        <p:nvSpPr>
          <p:cNvPr id="5" name="Rectangle 4">
            <a:extLst>
              <a:ext uri="{FF2B5EF4-FFF2-40B4-BE49-F238E27FC236}">
                <a16:creationId xmlns:a16="http://schemas.microsoft.com/office/drawing/2014/main" id="{8316BC71-3783-51F2-3BB7-86322831A3C6}"/>
              </a:ext>
            </a:extLst>
          </p:cNvPr>
          <p:cNvSpPr/>
          <p:nvPr/>
        </p:nvSpPr>
        <p:spPr>
          <a:xfrm>
            <a:off x="2924175" y="2766220"/>
            <a:ext cx="1314450" cy="13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2</a:t>
            </a:r>
          </a:p>
        </p:txBody>
      </p:sp>
      <p:sp>
        <p:nvSpPr>
          <p:cNvPr id="6" name="Rectangle 5">
            <a:extLst>
              <a:ext uri="{FF2B5EF4-FFF2-40B4-BE49-F238E27FC236}">
                <a16:creationId xmlns:a16="http://schemas.microsoft.com/office/drawing/2014/main" id="{12BAF40C-A187-5863-364A-8D236C2807B3}"/>
              </a:ext>
            </a:extLst>
          </p:cNvPr>
          <p:cNvSpPr/>
          <p:nvPr/>
        </p:nvSpPr>
        <p:spPr>
          <a:xfrm>
            <a:off x="5267327" y="2766219"/>
            <a:ext cx="1314450" cy="13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3</a:t>
            </a:r>
          </a:p>
        </p:txBody>
      </p:sp>
      <p:sp>
        <p:nvSpPr>
          <p:cNvPr id="7" name="Rectangle 6">
            <a:extLst>
              <a:ext uri="{FF2B5EF4-FFF2-40B4-BE49-F238E27FC236}">
                <a16:creationId xmlns:a16="http://schemas.microsoft.com/office/drawing/2014/main" id="{A0EEB088-E852-ADA9-76A4-B14C8DBE0554}"/>
              </a:ext>
            </a:extLst>
          </p:cNvPr>
          <p:cNvSpPr/>
          <p:nvPr/>
        </p:nvSpPr>
        <p:spPr>
          <a:xfrm>
            <a:off x="7610479" y="2766218"/>
            <a:ext cx="1314450" cy="13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4</a:t>
            </a:r>
          </a:p>
        </p:txBody>
      </p:sp>
      <p:sp>
        <p:nvSpPr>
          <p:cNvPr id="9" name="TextBox 8">
            <a:extLst>
              <a:ext uri="{FF2B5EF4-FFF2-40B4-BE49-F238E27FC236}">
                <a16:creationId xmlns:a16="http://schemas.microsoft.com/office/drawing/2014/main" id="{89B257EE-5F31-5114-325C-9E0F394665FF}"/>
              </a:ext>
            </a:extLst>
          </p:cNvPr>
          <p:cNvSpPr txBox="1"/>
          <p:nvPr/>
        </p:nvSpPr>
        <p:spPr>
          <a:xfrm>
            <a:off x="371475" y="4471196"/>
            <a:ext cx="1590675" cy="369332"/>
          </a:xfrm>
          <a:prstGeom prst="rect">
            <a:avLst/>
          </a:prstGeom>
          <a:noFill/>
        </p:spPr>
        <p:txBody>
          <a:bodyPr wrap="square" rtlCol="0">
            <a:spAutoFit/>
          </a:bodyPr>
          <a:lstStyle/>
          <a:p>
            <a:pPr algn="ctr"/>
            <a:r>
              <a:rPr lang="en-US" dirty="0"/>
              <a:t>Introduction</a:t>
            </a:r>
          </a:p>
        </p:txBody>
      </p:sp>
      <p:sp>
        <p:nvSpPr>
          <p:cNvPr id="10" name="TextBox 9">
            <a:extLst>
              <a:ext uri="{FF2B5EF4-FFF2-40B4-BE49-F238E27FC236}">
                <a16:creationId xmlns:a16="http://schemas.microsoft.com/office/drawing/2014/main" id="{EB906C38-1D6E-10B5-9AF8-FE741FE7A0F8}"/>
              </a:ext>
            </a:extLst>
          </p:cNvPr>
          <p:cNvSpPr txBox="1"/>
          <p:nvPr/>
        </p:nvSpPr>
        <p:spPr>
          <a:xfrm>
            <a:off x="2786062" y="4471196"/>
            <a:ext cx="1590675" cy="369332"/>
          </a:xfrm>
          <a:prstGeom prst="rect">
            <a:avLst/>
          </a:prstGeom>
          <a:noFill/>
        </p:spPr>
        <p:txBody>
          <a:bodyPr wrap="square" rtlCol="0">
            <a:spAutoFit/>
          </a:bodyPr>
          <a:lstStyle/>
          <a:p>
            <a:pPr algn="ctr"/>
            <a:r>
              <a:rPr lang="en-US" dirty="0"/>
              <a:t>Dataset</a:t>
            </a:r>
          </a:p>
        </p:txBody>
      </p:sp>
      <p:sp>
        <p:nvSpPr>
          <p:cNvPr id="11" name="TextBox 10">
            <a:extLst>
              <a:ext uri="{FF2B5EF4-FFF2-40B4-BE49-F238E27FC236}">
                <a16:creationId xmlns:a16="http://schemas.microsoft.com/office/drawing/2014/main" id="{7B7340CC-BDE8-B075-9F50-176312B124E4}"/>
              </a:ext>
            </a:extLst>
          </p:cNvPr>
          <p:cNvSpPr txBox="1"/>
          <p:nvPr/>
        </p:nvSpPr>
        <p:spPr>
          <a:xfrm>
            <a:off x="5129214" y="4471196"/>
            <a:ext cx="1590675" cy="923330"/>
          </a:xfrm>
          <a:prstGeom prst="rect">
            <a:avLst/>
          </a:prstGeom>
          <a:noFill/>
        </p:spPr>
        <p:txBody>
          <a:bodyPr wrap="square" rtlCol="0">
            <a:spAutoFit/>
          </a:bodyPr>
          <a:lstStyle/>
          <a:p>
            <a:pPr algn="ctr"/>
            <a:r>
              <a:rPr lang="en-US" dirty="0"/>
              <a:t>Collaborative Filtering (User-Based)</a:t>
            </a:r>
          </a:p>
        </p:txBody>
      </p:sp>
      <p:sp>
        <p:nvSpPr>
          <p:cNvPr id="12" name="TextBox 11">
            <a:extLst>
              <a:ext uri="{FF2B5EF4-FFF2-40B4-BE49-F238E27FC236}">
                <a16:creationId xmlns:a16="http://schemas.microsoft.com/office/drawing/2014/main" id="{D7CA3AF1-EEBE-930B-8D77-469E206F896E}"/>
              </a:ext>
            </a:extLst>
          </p:cNvPr>
          <p:cNvSpPr txBox="1"/>
          <p:nvPr/>
        </p:nvSpPr>
        <p:spPr>
          <a:xfrm>
            <a:off x="7472366" y="4471196"/>
            <a:ext cx="1590675" cy="1200329"/>
          </a:xfrm>
          <a:prstGeom prst="rect">
            <a:avLst/>
          </a:prstGeom>
          <a:noFill/>
        </p:spPr>
        <p:txBody>
          <a:bodyPr wrap="square" rtlCol="0">
            <a:spAutoFit/>
          </a:bodyPr>
          <a:lstStyle/>
          <a:p>
            <a:pPr algn="ctr"/>
            <a:r>
              <a:rPr lang="en-US" dirty="0"/>
              <a:t>Popular-Based Filtering (Extra)</a:t>
            </a:r>
          </a:p>
        </p:txBody>
      </p:sp>
      <p:sp>
        <p:nvSpPr>
          <p:cNvPr id="15" name="Rectangle 14">
            <a:extLst>
              <a:ext uri="{FF2B5EF4-FFF2-40B4-BE49-F238E27FC236}">
                <a16:creationId xmlns:a16="http://schemas.microsoft.com/office/drawing/2014/main" id="{18C4F974-1911-C759-3536-96D00F1DF328}"/>
              </a:ext>
            </a:extLst>
          </p:cNvPr>
          <p:cNvSpPr/>
          <p:nvPr/>
        </p:nvSpPr>
        <p:spPr>
          <a:xfrm>
            <a:off x="9815518" y="2766218"/>
            <a:ext cx="1314450" cy="13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5</a:t>
            </a:r>
          </a:p>
        </p:txBody>
      </p:sp>
      <p:sp>
        <p:nvSpPr>
          <p:cNvPr id="16" name="TextBox 15">
            <a:extLst>
              <a:ext uri="{FF2B5EF4-FFF2-40B4-BE49-F238E27FC236}">
                <a16:creationId xmlns:a16="http://schemas.microsoft.com/office/drawing/2014/main" id="{FFC12788-0501-E007-EA68-3A402D70267E}"/>
              </a:ext>
            </a:extLst>
          </p:cNvPr>
          <p:cNvSpPr txBox="1"/>
          <p:nvPr/>
        </p:nvSpPr>
        <p:spPr>
          <a:xfrm>
            <a:off x="9677405" y="4471196"/>
            <a:ext cx="1590675" cy="369332"/>
          </a:xfrm>
          <a:prstGeom prst="rect">
            <a:avLst/>
          </a:prstGeom>
          <a:noFill/>
        </p:spPr>
        <p:txBody>
          <a:bodyPr wrap="square" rtlCol="0">
            <a:spAutoFit/>
          </a:bodyPr>
          <a:lstStyle/>
          <a:p>
            <a:pPr algn="ctr"/>
            <a:r>
              <a:rPr lang="en-US" dirty="0"/>
              <a:t>Conclusion</a:t>
            </a:r>
          </a:p>
        </p:txBody>
      </p:sp>
      <p:sp>
        <p:nvSpPr>
          <p:cNvPr id="17" name="Title 1">
            <a:extLst>
              <a:ext uri="{FF2B5EF4-FFF2-40B4-BE49-F238E27FC236}">
                <a16:creationId xmlns:a16="http://schemas.microsoft.com/office/drawing/2014/main" id="{BA3A5064-DC70-0D4F-F861-783149B396A3}"/>
              </a:ext>
            </a:extLst>
          </p:cNvPr>
          <p:cNvSpPr txBox="1">
            <a:spLocks/>
          </p:cNvSpPr>
          <p:nvPr/>
        </p:nvSpPr>
        <p:spPr>
          <a:xfrm>
            <a:off x="4376737" y="133349"/>
            <a:ext cx="3733800" cy="1833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Components</a:t>
            </a:r>
          </a:p>
        </p:txBody>
      </p:sp>
    </p:spTree>
    <p:extLst>
      <p:ext uri="{BB962C8B-B14F-4D97-AF65-F5344CB8AC3E}">
        <p14:creationId xmlns:p14="http://schemas.microsoft.com/office/powerpoint/2010/main" val="2828212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335E75-E689-8AFC-98CD-CA6A6E8351B8}"/>
              </a:ext>
            </a:extLst>
          </p:cNvPr>
          <p:cNvSpPr/>
          <p:nvPr/>
        </p:nvSpPr>
        <p:spPr>
          <a:xfrm>
            <a:off x="5438775" y="1718715"/>
            <a:ext cx="1314450" cy="13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1</a:t>
            </a:r>
          </a:p>
        </p:txBody>
      </p:sp>
      <p:sp>
        <p:nvSpPr>
          <p:cNvPr id="6" name="TextBox 5">
            <a:extLst>
              <a:ext uri="{FF2B5EF4-FFF2-40B4-BE49-F238E27FC236}">
                <a16:creationId xmlns:a16="http://schemas.microsoft.com/office/drawing/2014/main" id="{64AD8E8E-ADA0-35B1-BF9A-7F20461214F8}"/>
              </a:ext>
            </a:extLst>
          </p:cNvPr>
          <p:cNvSpPr txBox="1"/>
          <p:nvPr/>
        </p:nvSpPr>
        <p:spPr>
          <a:xfrm>
            <a:off x="1934766" y="3044278"/>
            <a:ext cx="8322468" cy="1200329"/>
          </a:xfrm>
          <a:prstGeom prst="rect">
            <a:avLst/>
          </a:prstGeom>
          <a:noFill/>
        </p:spPr>
        <p:txBody>
          <a:bodyPr wrap="square" rtlCol="0">
            <a:spAutoFit/>
          </a:bodyPr>
          <a:lstStyle/>
          <a:p>
            <a:pPr algn="ctr"/>
            <a:r>
              <a:rPr lang="en-US" sz="7200" dirty="0"/>
              <a:t>Introduction</a:t>
            </a:r>
          </a:p>
        </p:txBody>
      </p:sp>
    </p:spTree>
    <p:extLst>
      <p:ext uri="{BB962C8B-B14F-4D97-AF65-F5344CB8AC3E}">
        <p14:creationId xmlns:p14="http://schemas.microsoft.com/office/powerpoint/2010/main" val="1743815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7E055-5531-E8E6-6529-2696F1EE5B10}"/>
              </a:ext>
            </a:extLst>
          </p:cNvPr>
          <p:cNvSpPr>
            <a:spLocks noGrp="1"/>
          </p:cNvSpPr>
          <p:nvPr>
            <p:ph type="ctrTitle"/>
          </p:nvPr>
        </p:nvSpPr>
        <p:spPr>
          <a:xfrm>
            <a:off x="1743740" y="335554"/>
            <a:ext cx="8924260" cy="642642"/>
          </a:xfrm>
        </p:spPr>
        <p:txBody>
          <a:bodyPr>
            <a:noAutofit/>
          </a:bodyPr>
          <a:lstStyle/>
          <a:p>
            <a:r>
              <a:rPr lang="en-US" sz="3200" dirty="0"/>
              <a:t>Item Recommendation for Users</a:t>
            </a:r>
            <a:endParaRPr lang="ar-SA" sz="3200" dirty="0"/>
          </a:p>
        </p:txBody>
      </p:sp>
      <p:sp>
        <p:nvSpPr>
          <p:cNvPr id="3" name="Subtitle 2">
            <a:extLst>
              <a:ext uri="{FF2B5EF4-FFF2-40B4-BE49-F238E27FC236}">
                <a16:creationId xmlns:a16="http://schemas.microsoft.com/office/drawing/2014/main" id="{DC2F5077-97FE-036F-74E0-D781E8FDEE6C}"/>
              </a:ext>
            </a:extLst>
          </p:cNvPr>
          <p:cNvSpPr>
            <a:spLocks noGrp="1"/>
          </p:cNvSpPr>
          <p:nvPr>
            <p:ph type="subTitle" idx="1"/>
          </p:nvPr>
        </p:nvSpPr>
        <p:spPr>
          <a:xfrm>
            <a:off x="499730" y="1446027"/>
            <a:ext cx="11302410" cy="5076419"/>
          </a:xfrm>
        </p:spPr>
        <p:txBody>
          <a:bodyPr>
            <a:normAutofit/>
          </a:bodyPr>
          <a:lstStyle/>
          <a:p>
            <a:pPr algn="l"/>
            <a:r>
              <a:rPr lang="en-US" dirty="0"/>
              <a:t>Objective: Create a system that uses recommendation algorithms to make item recommendations based on user preferences.</a:t>
            </a:r>
          </a:p>
          <a:p>
            <a:pPr marL="342900" indent="-342900" algn="l">
              <a:buFont typeface="Arial" panose="020B0604020202020204" pitchFamily="34" charset="0"/>
              <a:buChar char="•"/>
            </a:pPr>
            <a:endParaRPr lang="en-US" dirty="0"/>
          </a:p>
          <a:p>
            <a:pPr algn="l"/>
            <a:r>
              <a:rPr lang="en-US" dirty="0"/>
              <a:t>Model Used:</a:t>
            </a:r>
          </a:p>
          <a:p>
            <a:pPr marL="342900" indent="-342900" algn="l">
              <a:buFont typeface="Arial" panose="020B0604020202020204" pitchFamily="34" charset="0"/>
              <a:buChar char="•"/>
            </a:pPr>
            <a:r>
              <a:rPr lang="en-US" dirty="0"/>
              <a:t>Collaborative Filtering: Using similarity between users.</a:t>
            </a:r>
          </a:p>
          <a:p>
            <a:pPr algn="l"/>
            <a:r>
              <a:rPr lang="en-US" dirty="0"/>
              <a:t>Other Models:</a:t>
            </a:r>
          </a:p>
          <a:p>
            <a:pPr marL="342900" indent="-342900" algn="l">
              <a:buFont typeface="Arial" panose="020B0604020202020204" pitchFamily="34" charset="0"/>
              <a:buChar char="•"/>
            </a:pPr>
            <a:r>
              <a:rPr lang="en-US" dirty="0"/>
              <a:t>Content-Based Filtering: Examines item characteristics that align with user preferences.</a:t>
            </a:r>
          </a:p>
          <a:p>
            <a:pPr marL="342900" indent="-342900" algn="l">
              <a:buFont typeface="Arial" panose="020B0604020202020204" pitchFamily="34" charset="0"/>
              <a:buChar char="•"/>
            </a:pPr>
            <a:r>
              <a:rPr lang="en-US" dirty="0"/>
              <a:t>Hybrid Models: Combines both approaches to overcome limitations.</a:t>
            </a:r>
          </a:p>
        </p:txBody>
      </p:sp>
    </p:spTree>
    <p:extLst>
      <p:ext uri="{BB962C8B-B14F-4D97-AF65-F5344CB8AC3E}">
        <p14:creationId xmlns:p14="http://schemas.microsoft.com/office/powerpoint/2010/main" val="2702514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83F75B-A115-F550-C4E9-EE89974C9753}"/>
              </a:ext>
            </a:extLst>
          </p:cNvPr>
          <p:cNvSpPr>
            <a:spLocks noGrp="1"/>
          </p:cNvSpPr>
          <p:nvPr>
            <p:ph idx="1"/>
          </p:nvPr>
        </p:nvSpPr>
        <p:spPr>
          <a:xfrm>
            <a:off x="361507" y="1052624"/>
            <a:ext cx="10992293" cy="5469822"/>
          </a:xfrm>
        </p:spPr>
        <p:txBody>
          <a:bodyPr>
            <a:normAutofit/>
          </a:bodyPr>
          <a:lstStyle/>
          <a:p>
            <a:pPr marL="0" indent="0">
              <a:buNone/>
            </a:pPr>
            <a:r>
              <a:rPr lang="en-US" dirty="0"/>
              <a:t>Key Features:</a:t>
            </a:r>
          </a:p>
          <a:p>
            <a:r>
              <a:rPr lang="en-US" dirty="0"/>
              <a:t>Scalable to effectively manage big datasets.</a:t>
            </a:r>
          </a:p>
          <a:p>
            <a:r>
              <a:rPr lang="en-US" dirty="0"/>
              <a:t>Capable of learning from user interactions to improve recommendations over time.</a:t>
            </a:r>
          </a:p>
          <a:p>
            <a:pPr marL="0" indent="0">
              <a:buNone/>
            </a:pPr>
            <a:endParaRPr lang="en-US" dirty="0"/>
          </a:p>
          <a:p>
            <a:pPr marL="0" indent="0">
              <a:buNone/>
            </a:pPr>
            <a:r>
              <a:rPr lang="en-US" dirty="0"/>
              <a:t>Outcome:</a:t>
            </a:r>
          </a:p>
          <a:p>
            <a:r>
              <a:rPr lang="en-US" dirty="0"/>
              <a:t>The system adapts dynamically as more data is collected, refining and improving recommendations over time.</a:t>
            </a:r>
          </a:p>
          <a:p>
            <a:r>
              <a:rPr lang="en-US" dirty="0"/>
              <a:t>Increase engagement and satisfaction through relevant product suggestions.</a:t>
            </a:r>
          </a:p>
          <a:p>
            <a:endParaRPr lang="ar-SA" dirty="0"/>
          </a:p>
        </p:txBody>
      </p:sp>
      <p:sp>
        <p:nvSpPr>
          <p:cNvPr id="4" name="Title 1">
            <a:extLst>
              <a:ext uri="{FF2B5EF4-FFF2-40B4-BE49-F238E27FC236}">
                <a16:creationId xmlns:a16="http://schemas.microsoft.com/office/drawing/2014/main" id="{6CC6C1D6-0676-E404-019D-367D49D70523}"/>
              </a:ext>
            </a:extLst>
          </p:cNvPr>
          <p:cNvSpPr txBox="1">
            <a:spLocks/>
          </p:cNvSpPr>
          <p:nvPr/>
        </p:nvSpPr>
        <p:spPr>
          <a:xfrm>
            <a:off x="1743740" y="335554"/>
            <a:ext cx="8924260" cy="7170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t>Key Features and </a:t>
            </a:r>
            <a:r>
              <a:rPr lang="en-US" sz="3200" dirty="0"/>
              <a:t>Outcomes</a:t>
            </a:r>
            <a:endParaRPr lang="ar-SA" sz="3200" dirty="0"/>
          </a:p>
        </p:txBody>
      </p:sp>
    </p:spTree>
    <p:extLst>
      <p:ext uri="{BB962C8B-B14F-4D97-AF65-F5344CB8AC3E}">
        <p14:creationId xmlns:p14="http://schemas.microsoft.com/office/powerpoint/2010/main" val="3611109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6B473-C6F5-0BF5-11AF-126A77819C3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0929FA2-9C17-B2C3-2138-6C02DCD35AB7}"/>
              </a:ext>
            </a:extLst>
          </p:cNvPr>
          <p:cNvSpPr/>
          <p:nvPr/>
        </p:nvSpPr>
        <p:spPr>
          <a:xfrm>
            <a:off x="5438775" y="1718715"/>
            <a:ext cx="1314450" cy="13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2</a:t>
            </a:r>
          </a:p>
        </p:txBody>
      </p:sp>
      <p:sp>
        <p:nvSpPr>
          <p:cNvPr id="6" name="TextBox 5">
            <a:extLst>
              <a:ext uri="{FF2B5EF4-FFF2-40B4-BE49-F238E27FC236}">
                <a16:creationId xmlns:a16="http://schemas.microsoft.com/office/drawing/2014/main" id="{34659245-9B30-CAB9-4EAF-AB452BEE6429}"/>
              </a:ext>
            </a:extLst>
          </p:cNvPr>
          <p:cNvSpPr txBox="1"/>
          <p:nvPr/>
        </p:nvSpPr>
        <p:spPr>
          <a:xfrm>
            <a:off x="1934766" y="3044278"/>
            <a:ext cx="8322468" cy="1200329"/>
          </a:xfrm>
          <a:prstGeom prst="rect">
            <a:avLst/>
          </a:prstGeom>
          <a:noFill/>
        </p:spPr>
        <p:txBody>
          <a:bodyPr wrap="square" rtlCol="0">
            <a:spAutoFit/>
          </a:bodyPr>
          <a:lstStyle/>
          <a:p>
            <a:pPr algn="ctr"/>
            <a:r>
              <a:rPr lang="en-US" sz="7200" dirty="0"/>
              <a:t>Dataset</a:t>
            </a:r>
          </a:p>
        </p:txBody>
      </p:sp>
    </p:spTree>
    <p:extLst>
      <p:ext uri="{BB962C8B-B14F-4D97-AF65-F5344CB8AC3E}">
        <p14:creationId xmlns:p14="http://schemas.microsoft.com/office/powerpoint/2010/main" val="1182308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AD51C-0971-46EE-7D49-BFDE3ABE2F60}"/>
              </a:ext>
            </a:extLst>
          </p:cNvPr>
          <p:cNvSpPr>
            <a:spLocks noGrp="1"/>
          </p:cNvSpPr>
          <p:nvPr>
            <p:ph type="title"/>
          </p:nvPr>
        </p:nvSpPr>
        <p:spPr>
          <a:xfrm>
            <a:off x="1005008" y="360390"/>
            <a:ext cx="10178934" cy="1328730"/>
          </a:xfrm>
        </p:spPr>
        <p:txBody>
          <a:bodyPr vert="horz" lIns="91440" tIns="45720" rIns="91440" bIns="45720" rtlCol="0" anchor="b">
            <a:normAutofit/>
          </a:bodyPr>
          <a:lstStyle/>
          <a:p>
            <a:pPr algn="ctr"/>
            <a:r>
              <a:rPr lang="en-US" sz="5200" kern="1200" dirty="0">
                <a:solidFill>
                  <a:schemeClr val="tx1"/>
                </a:solidFill>
                <a:latin typeface="+mj-lt"/>
                <a:ea typeface="+mj-ea"/>
                <a:cs typeface="+mj-cs"/>
              </a:rPr>
              <a:t>Dataset</a:t>
            </a:r>
          </a:p>
        </p:txBody>
      </p:sp>
      <p:pic>
        <p:nvPicPr>
          <p:cNvPr id="5" name="Content Placeholder 4" descr="A table of numbers with numbers&#10;&#10;Description automatically generated">
            <a:extLst>
              <a:ext uri="{FF2B5EF4-FFF2-40B4-BE49-F238E27FC236}">
                <a16:creationId xmlns:a16="http://schemas.microsoft.com/office/drawing/2014/main" id="{15018C56-5915-48BB-BF73-535AB9C713ED}"/>
              </a:ext>
            </a:extLst>
          </p:cNvPr>
          <p:cNvPicPr>
            <a:picLocks noGrp="1" noChangeAspect="1"/>
          </p:cNvPicPr>
          <p:nvPr>
            <p:ph idx="1"/>
          </p:nvPr>
        </p:nvPicPr>
        <p:blipFill>
          <a:blip r:embed="rId2"/>
          <a:srcRect b="58940"/>
          <a:stretch/>
        </p:blipFill>
        <p:spPr>
          <a:xfrm>
            <a:off x="198741" y="2410448"/>
            <a:ext cx="5803323" cy="3890357"/>
          </a:xfrm>
          <a:prstGeom prst="rect">
            <a:avLst/>
          </a:prstGeom>
        </p:spPr>
      </p:pic>
      <p:pic>
        <p:nvPicPr>
          <p:cNvPr id="7" name="Picture 6" descr="A screen shot of a movie list&#10;&#10;Description automatically generated">
            <a:extLst>
              <a:ext uri="{FF2B5EF4-FFF2-40B4-BE49-F238E27FC236}">
                <a16:creationId xmlns:a16="http://schemas.microsoft.com/office/drawing/2014/main" id="{94B49403-6218-9AA3-C280-0E8903EB63DD}"/>
              </a:ext>
            </a:extLst>
          </p:cNvPr>
          <p:cNvPicPr>
            <a:picLocks noChangeAspect="1"/>
          </p:cNvPicPr>
          <p:nvPr/>
        </p:nvPicPr>
        <p:blipFill>
          <a:blip r:embed="rId3"/>
          <a:srcRect r="-2" b="9713"/>
          <a:stretch/>
        </p:blipFill>
        <p:spPr>
          <a:xfrm>
            <a:off x="6200806" y="2410448"/>
            <a:ext cx="5803323" cy="3890357"/>
          </a:xfrm>
          <a:prstGeom prst="rect">
            <a:avLst/>
          </a:prstGeom>
        </p:spPr>
      </p:pic>
      <p:sp>
        <p:nvSpPr>
          <p:cNvPr id="8" name="TextBox 7">
            <a:extLst>
              <a:ext uri="{FF2B5EF4-FFF2-40B4-BE49-F238E27FC236}">
                <a16:creationId xmlns:a16="http://schemas.microsoft.com/office/drawing/2014/main" id="{9AC12B92-C9A5-AA29-398E-91A1AB5327E5}"/>
              </a:ext>
            </a:extLst>
          </p:cNvPr>
          <p:cNvSpPr txBox="1"/>
          <p:nvPr/>
        </p:nvSpPr>
        <p:spPr>
          <a:xfrm>
            <a:off x="4766387" y="1671784"/>
            <a:ext cx="2656176" cy="369332"/>
          </a:xfrm>
          <a:prstGeom prst="rect">
            <a:avLst/>
          </a:prstGeom>
          <a:noFill/>
        </p:spPr>
        <p:txBody>
          <a:bodyPr wrap="none" rtlCol="0">
            <a:spAutoFit/>
          </a:bodyPr>
          <a:lstStyle/>
          <a:p>
            <a:r>
              <a:rPr lang="en-SA" dirty="0"/>
              <a:t>The dataset </a:t>
            </a:r>
            <a:r>
              <a:rPr lang="en-US" dirty="0"/>
              <a:t>are </a:t>
            </a:r>
            <a:r>
              <a:rPr lang="en-SA" dirty="0"/>
              <a:t>two files:</a:t>
            </a:r>
          </a:p>
        </p:txBody>
      </p:sp>
      <p:sp>
        <p:nvSpPr>
          <p:cNvPr id="9" name="TextBox 8">
            <a:extLst>
              <a:ext uri="{FF2B5EF4-FFF2-40B4-BE49-F238E27FC236}">
                <a16:creationId xmlns:a16="http://schemas.microsoft.com/office/drawing/2014/main" id="{CAC924FE-9549-FF79-DF08-19A5F2DB1978}"/>
              </a:ext>
            </a:extLst>
          </p:cNvPr>
          <p:cNvSpPr txBox="1"/>
          <p:nvPr/>
        </p:nvSpPr>
        <p:spPr>
          <a:xfrm>
            <a:off x="2030974" y="2041116"/>
            <a:ext cx="2138855" cy="369332"/>
          </a:xfrm>
          <a:prstGeom prst="rect">
            <a:avLst/>
          </a:prstGeom>
          <a:noFill/>
        </p:spPr>
        <p:txBody>
          <a:bodyPr wrap="none" rtlCol="0">
            <a:spAutoFit/>
          </a:bodyPr>
          <a:lstStyle/>
          <a:p>
            <a:r>
              <a:rPr lang="en-US" dirty="0"/>
              <a:t>r</a:t>
            </a:r>
            <a:r>
              <a:rPr lang="en-SA" dirty="0"/>
              <a:t>atings_movies.csv</a:t>
            </a:r>
          </a:p>
        </p:txBody>
      </p:sp>
      <p:sp>
        <p:nvSpPr>
          <p:cNvPr id="10" name="TextBox 9">
            <a:extLst>
              <a:ext uri="{FF2B5EF4-FFF2-40B4-BE49-F238E27FC236}">
                <a16:creationId xmlns:a16="http://schemas.microsoft.com/office/drawing/2014/main" id="{F55D6F4A-C401-6A3C-A2DD-DAC8B1BEAAFF}"/>
              </a:ext>
            </a:extLst>
          </p:cNvPr>
          <p:cNvSpPr txBox="1"/>
          <p:nvPr/>
        </p:nvSpPr>
        <p:spPr>
          <a:xfrm>
            <a:off x="8552563" y="2049510"/>
            <a:ext cx="1289969" cy="369332"/>
          </a:xfrm>
          <a:prstGeom prst="rect">
            <a:avLst/>
          </a:prstGeom>
          <a:noFill/>
        </p:spPr>
        <p:txBody>
          <a:bodyPr wrap="none" rtlCol="0">
            <a:spAutoFit/>
          </a:bodyPr>
          <a:lstStyle/>
          <a:p>
            <a:r>
              <a:rPr lang="en-US" dirty="0" err="1"/>
              <a:t>movies.csv</a:t>
            </a:r>
            <a:endParaRPr lang="en-SA" dirty="0"/>
          </a:p>
        </p:txBody>
      </p:sp>
    </p:spTree>
    <p:extLst>
      <p:ext uri="{BB962C8B-B14F-4D97-AF65-F5344CB8AC3E}">
        <p14:creationId xmlns:p14="http://schemas.microsoft.com/office/powerpoint/2010/main" val="2756084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7982E-9D04-7555-AA64-62E487AAFED0}"/>
              </a:ext>
            </a:extLst>
          </p:cNvPr>
          <p:cNvSpPr>
            <a:spLocks noGrp="1"/>
          </p:cNvSpPr>
          <p:nvPr>
            <p:ph type="title"/>
          </p:nvPr>
        </p:nvSpPr>
        <p:spPr/>
        <p:txBody>
          <a:bodyPr/>
          <a:lstStyle/>
          <a:p>
            <a:r>
              <a:rPr lang="en-SA" dirty="0"/>
              <a:t>Dataset source</a:t>
            </a:r>
          </a:p>
        </p:txBody>
      </p:sp>
      <p:sp>
        <p:nvSpPr>
          <p:cNvPr id="3" name="Content Placeholder 2">
            <a:extLst>
              <a:ext uri="{FF2B5EF4-FFF2-40B4-BE49-F238E27FC236}">
                <a16:creationId xmlns:a16="http://schemas.microsoft.com/office/drawing/2014/main" id="{D268B072-B1F9-D8E6-EEBE-D67615BECB8C}"/>
              </a:ext>
            </a:extLst>
          </p:cNvPr>
          <p:cNvSpPr>
            <a:spLocks noGrp="1"/>
          </p:cNvSpPr>
          <p:nvPr>
            <p:ph idx="1"/>
          </p:nvPr>
        </p:nvSpPr>
        <p:spPr/>
        <p:txBody>
          <a:bodyPr/>
          <a:lstStyle/>
          <a:p>
            <a:r>
              <a:rPr lang="en-SA" dirty="0"/>
              <a:t>The dataset was sourced from </a:t>
            </a:r>
            <a:r>
              <a:rPr lang="en-US" dirty="0">
                <a:hlinkClick r:id="rId2"/>
              </a:rPr>
              <a:t>https://grouplens.org/datasets/movielens/</a:t>
            </a:r>
            <a:endParaRPr lang="en-US" dirty="0"/>
          </a:p>
          <a:p>
            <a:endParaRPr lang="en-SA" dirty="0"/>
          </a:p>
        </p:txBody>
      </p:sp>
    </p:spTree>
    <p:extLst>
      <p:ext uri="{BB962C8B-B14F-4D97-AF65-F5344CB8AC3E}">
        <p14:creationId xmlns:p14="http://schemas.microsoft.com/office/powerpoint/2010/main" val="494176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ED989-A354-2C01-5A12-737F4F09D17E}"/>
              </a:ext>
            </a:extLst>
          </p:cNvPr>
          <p:cNvSpPr>
            <a:spLocks noGrp="1"/>
          </p:cNvSpPr>
          <p:nvPr>
            <p:ph type="title"/>
          </p:nvPr>
        </p:nvSpPr>
        <p:spPr/>
        <p:txBody>
          <a:bodyPr/>
          <a:lstStyle/>
          <a:p>
            <a:r>
              <a:rPr lang="en-SA" dirty="0"/>
              <a:t>Missing and incomplete data</a:t>
            </a:r>
          </a:p>
        </p:txBody>
      </p:sp>
      <p:sp>
        <p:nvSpPr>
          <p:cNvPr id="3" name="Content Placeholder 2">
            <a:extLst>
              <a:ext uri="{FF2B5EF4-FFF2-40B4-BE49-F238E27FC236}">
                <a16:creationId xmlns:a16="http://schemas.microsoft.com/office/drawing/2014/main" id="{1CDFB8C6-145E-839C-9819-3A253B4FE979}"/>
              </a:ext>
            </a:extLst>
          </p:cNvPr>
          <p:cNvSpPr>
            <a:spLocks noGrp="1"/>
          </p:cNvSpPr>
          <p:nvPr>
            <p:ph idx="1"/>
          </p:nvPr>
        </p:nvSpPr>
        <p:spPr/>
        <p:txBody>
          <a:bodyPr/>
          <a:lstStyle/>
          <a:p>
            <a:r>
              <a:rPr lang="en-SA" dirty="0"/>
              <a:t>Missing values: </a:t>
            </a:r>
            <a:r>
              <a:rPr lang="en-SA" sz="1800" dirty="0">
                <a:latin typeface="Century Gothic" panose="020B0502020202020204" pitchFamily="34" charset="0"/>
              </a:rPr>
              <a:t>Movie title is missing in the file </a:t>
            </a:r>
            <a:r>
              <a:rPr lang="en-US" sz="1800" dirty="0">
                <a:latin typeface="Century Gothic" panose="020B0502020202020204" pitchFamily="34" charset="0"/>
              </a:rPr>
              <a:t>r</a:t>
            </a:r>
            <a:r>
              <a:rPr lang="en-SA" sz="1800" dirty="0">
                <a:latin typeface="Century Gothic" panose="020B0502020202020204" pitchFamily="34" charset="0"/>
              </a:rPr>
              <a:t>atings_movies.csv.</a:t>
            </a:r>
          </a:p>
          <a:p>
            <a:r>
              <a:rPr lang="en-US" dirty="0"/>
              <a:t>Data Completeness: </a:t>
            </a:r>
            <a:r>
              <a:rPr lang="en-US" sz="1800" dirty="0">
                <a:effectLst/>
                <a:latin typeface="Century Gothic" panose="020B0502020202020204" pitchFamily="34" charset="0"/>
                <a:ea typeface="Calibri" panose="020F0502020204030204" pitchFamily="34" charset="0"/>
                <a:cs typeface="Arial" panose="020B0604020202020204" pitchFamily="34" charset="0"/>
              </a:rPr>
              <a:t>No incomplete data, all users in the dataset have rated the items.</a:t>
            </a:r>
            <a:endParaRPr lang="en-SA" sz="1800" b="1" dirty="0">
              <a:effectLst/>
              <a:latin typeface="Adobe Gothic Std B"/>
              <a:ea typeface="Calibri" panose="020F0502020204030204" pitchFamily="34" charset="0"/>
              <a:cs typeface="Arial" panose="020B0604020202020204" pitchFamily="34" charset="0"/>
            </a:endParaRPr>
          </a:p>
          <a:p>
            <a:r>
              <a:rPr lang="en-SA" dirty="0"/>
              <a:t>Imputation strategy: </a:t>
            </a:r>
            <a:r>
              <a:rPr lang="en-SA" sz="1800" dirty="0">
                <a:latin typeface="Century Gothic" panose="020B0502020202020204" pitchFamily="34" charset="0"/>
              </a:rPr>
              <a:t>we merged the two files to a single</a:t>
            </a:r>
            <a:r>
              <a:rPr lang="en-SA" sz="1800" dirty="0"/>
              <a:t> </a:t>
            </a:r>
            <a:r>
              <a:rPr lang="en-US" sz="1800" dirty="0">
                <a:effectLst/>
                <a:latin typeface="Century Gothic" panose="020B0502020202020204" pitchFamily="34" charset="0"/>
                <a:ea typeface="Calibri" panose="020F0502020204030204" pitchFamily="34" charset="0"/>
                <a:cs typeface="Arial" panose="020B0604020202020204" pitchFamily="34" charset="0"/>
              </a:rPr>
              <a:t>dataset containing (Movie Title and Movie ID)</a:t>
            </a:r>
            <a:r>
              <a:rPr lang="en-SA" dirty="0">
                <a:effectLst/>
              </a:rPr>
              <a:t> </a:t>
            </a:r>
            <a:endParaRPr lang="en-SA" dirty="0"/>
          </a:p>
        </p:txBody>
      </p:sp>
    </p:spTree>
    <p:extLst>
      <p:ext uri="{BB962C8B-B14F-4D97-AF65-F5344CB8AC3E}">
        <p14:creationId xmlns:p14="http://schemas.microsoft.com/office/powerpoint/2010/main" val="3865160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ACAC3-1BD6-E3FC-B4CA-1F9CB6C76413}"/>
              </a:ext>
            </a:extLst>
          </p:cNvPr>
          <p:cNvSpPr>
            <a:spLocks noGrp="1"/>
          </p:cNvSpPr>
          <p:nvPr>
            <p:ph type="title"/>
          </p:nvPr>
        </p:nvSpPr>
        <p:spPr/>
        <p:txBody>
          <a:bodyPr/>
          <a:lstStyle/>
          <a:p>
            <a:r>
              <a:rPr lang="en-SA" dirty="0"/>
              <a:t>Descriptive statistics</a:t>
            </a:r>
          </a:p>
        </p:txBody>
      </p:sp>
      <p:sp>
        <p:nvSpPr>
          <p:cNvPr id="3" name="Content Placeholder 2">
            <a:extLst>
              <a:ext uri="{FF2B5EF4-FFF2-40B4-BE49-F238E27FC236}">
                <a16:creationId xmlns:a16="http://schemas.microsoft.com/office/drawing/2014/main" id="{9EFD0718-673F-F70C-8FAF-0DED626A2BCD}"/>
              </a:ext>
            </a:extLst>
          </p:cNvPr>
          <p:cNvSpPr>
            <a:spLocks noGrp="1"/>
          </p:cNvSpPr>
          <p:nvPr>
            <p:ph idx="1"/>
          </p:nvPr>
        </p:nvSpPr>
        <p:spPr/>
        <p:txBody>
          <a:bodyPr>
            <a:normAutofit fontScale="92500" lnSpcReduction="10000"/>
          </a:bodyPr>
          <a:lstStyle/>
          <a:p>
            <a:pPr marL="228600" indent="228600">
              <a:lnSpc>
                <a:spcPct val="107000"/>
              </a:lnSpc>
              <a:spcAft>
                <a:spcPts val="800"/>
              </a:spcAft>
            </a:pPr>
            <a:r>
              <a:rPr lang="en-US" sz="1800" dirty="0">
                <a:effectLst/>
                <a:latin typeface="Century Gothic" panose="020B0502020202020204" pitchFamily="34" charset="0"/>
                <a:ea typeface="Calibri" panose="020F0502020204030204" pitchFamily="34" charset="0"/>
                <a:cs typeface="Arial" panose="020B0604020202020204" pitchFamily="34" charset="0"/>
              </a:rPr>
              <a:t>Number of unique users: 610</a:t>
            </a:r>
            <a:endParaRPr lang="en-SA" sz="1800" dirty="0">
              <a:effectLst/>
              <a:latin typeface="Century Gothic" panose="020B0502020202020204" pitchFamily="34" charset="0"/>
              <a:ea typeface="Calibri" panose="020F0502020204030204" pitchFamily="34" charset="0"/>
              <a:cs typeface="Arial" panose="020B0604020202020204" pitchFamily="34" charset="0"/>
            </a:endParaRPr>
          </a:p>
          <a:p>
            <a:pPr marL="228600" indent="228600">
              <a:lnSpc>
                <a:spcPct val="107000"/>
              </a:lnSpc>
              <a:spcAft>
                <a:spcPts val="800"/>
              </a:spcAft>
            </a:pPr>
            <a:r>
              <a:rPr lang="en-US" sz="1800" dirty="0">
                <a:effectLst/>
                <a:latin typeface="Century Gothic" panose="020B0502020202020204" pitchFamily="34" charset="0"/>
                <a:ea typeface="Calibri" panose="020F0502020204030204" pitchFamily="34" charset="0"/>
                <a:cs typeface="Arial" panose="020B0604020202020204" pitchFamily="34" charset="0"/>
              </a:rPr>
              <a:t>Number of unique movies: 9724</a:t>
            </a:r>
            <a:endParaRPr lang="en-SA" sz="1800" dirty="0">
              <a:latin typeface="Century Gothic" panose="020B0502020202020204" pitchFamily="34" charset="0"/>
              <a:ea typeface="Calibri" panose="020F0502020204030204" pitchFamily="34" charset="0"/>
              <a:cs typeface="Arial" panose="020B0604020202020204" pitchFamily="34" charset="0"/>
            </a:endParaRPr>
          </a:p>
          <a:p>
            <a:pPr marL="228600" indent="228600">
              <a:lnSpc>
                <a:spcPct val="107000"/>
              </a:lnSpc>
              <a:spcAft>
                <a:spcPts val="800"/>
              </a:spcAft>
            </a:pPr>
            <a:r>
              <a:rPr lang="en-US" sz="1800" dirty="0">
                <a:effectLst/>
                <a:latin typeface="Century Gothic" panose="020B0502020202020204" pitchFamily="34" charset="0"/>
                <a:ea typeface="Calibri" panose="020F0502020204030204" pitchFamily="34" charset="0"/>
                <a:cs typeface="Arial" panose="020B0604020202020204" pitchFamily="34" charset="0"/>
              </a:rPr>
              <a:t>Number of unique ratings: 10</a:t>
            </a:r>
            <a:endParaRPr lang="en-SA" sz="1800" dirty="0">
              <a:effectLst/>
              <a:latin typeface="Century Gothic" panose="020B0502020202020204" pitchFamily="34" charset="0"/>
              <a:ea typeface="Calibri" panose="020F0502020204030204" pitchFamily="34" charset="0"/>
              <a:cs typeface="Arial" panose="020B0604020202020204" pitchFamily="34" charset="0"/>
            </a:endParaRPr>
          </a:p>
          <a:p>
            <a:pPr marL="228600" indent="228600">
              <a:lnSpc>
                <a:spcPct val="107000"/>
              </a:lnSpc>
              <a:spcAft>
                <a:spcPts val="800"/>
              </a:spcAft>
            </a:pPr>
            <a:r>
              <a:rPr lang="en-US" sz="1800" dirty="0">
                <a:effectLst/>
                <a:latin typeface="Century Gothic" panose="020B0502020202020204" pitchFamily="34" charset="0"/>
                <a:ea typeface="Calibri" panose="020F0502020204030204" pitchFamily="34" charset="0"/>
                <a:cs typeface="Arial" panose="020B0604020202020204" pitchFamily="34" charset="0"/>
              </a:rPr>
              <a:t>Mean of ratings: 3.501</a:t>
            </a:r>
            <a:endParaRPr lang="en-SA" sz="1800" dirty="0">
              <a:effectLst/>
              <a:latin typeface="Century Gothic" panose="020B0502020202020204" pitchFamily="34" charset="0"/>
              <a:ea typeface="Calibri" panose="020F0502020204030204" pitchFamily="34" charset="0"/>
              <a:cs typeface="Arial" panose="020B0604020202020204" pitchFamily="34" charset="0"/>
            </a:endParaRPr>
          </a:p>
          <a:p>
            <a:pPr marL="457200">
              <a:lnSpc>
                <a:spcPct val="107000"/>
              </a:lnSpc>
              <a:spcAft>
                <a:spcPts val="800"/>
              </a:spcAft>
            </a:pPr>
            <a:r>
              <a:rPr lang="en-US" sz="1800" dirty="0">
                <a:effectLst/>
                <a:latin typeface="Century Gothic" panose="020B0502020202020204" pitchFamily="34" charset="0"/>
                <a:ea typeface="Calibri" panose="020F0502020204030204" pitchFamily="34" charset="0"/>
                <a:cs typeface="Arial" panose="020B0604020202020204" pitchFamily="34" charset="0"/>
              </a:rPr>
              <a:t>Median of ratings: 3.5</a:t>
            </a:r>
            <a:endParaRPr lang="en-SA" sz="1800" dirty="0">
              <a:effectLst/>
              <a:latin typeface="Century Gothic" panose="020B0502020202020204" pitchFamily="34" charset="0"/>
              <a:ea typeface="Calibri" panose="020F0502020204030204" pitchFamily="34" charset="0"/>
              <a:cs typeface="Arial" panose="020B0604020202020204" pitchFamily="34" charset="0"/>
            </a:endParaRPr>
          </a:p>
          <a:p>
            <a:pPr marL="228600" indent="228600">
              <a:lnSpc>
                <a:spcPct val="107000"/>
              </a:lnSpc>
              <a:spcAft>
                <a:spcPts val="800"/>
              </a:spcAft>
            </a:pPr>
            <a:r>
              <a:rPr lang="en-US" sz="1800" dirty="0">
                <a:effectLst/>
                <a:latin typeface="Century Gothic" panose="020B0502020202020204" pitchFamily="34" charset="0"/>
                <a:ea typeface="Calibri" panose="020F0502020204030204" pitchFamily="34" charset="0"/>
                <a:cs typeface="Arial" panose="020B0604020202020204" pitchFamily="34" charset="0"/>
              </a:rPr>
              <a:t>Variance of ratings: 1.087</a:t>
            </a:r>
            <a:endParaRPr lang="en-SA" sz="1800" dirty="0">
              <a:effectLst/>
              <a:latin typeface="Century Gothic" panose="020B0502020202020204" pitchFamily="34" charset="0"/>
              <a:ea typeface="Calibri" panose="020F0502020204030204" pitchFamily="34" charset="0"/>
              <a:cs typeface="Arial" panose="020B0604020202020204" pitchFamily="34" charset="0"/>
            </a:endParaRPr>
          </a:p>
          <a:p>
            <a:pPr marL="228600" indent="228600">
              <a:lnSpc>
                <a:spcPct val="107000"/>
              </a:lnSpc>
              <a:spcAft>
                <a:spcPts val="800"/>
              </a:spcAft>
            </a:pPr>
            <a:r>
              <a:rPr lang="en-US" sz="1800" dirty="0">
                <a:effectLst/>
                <a:latin typeface="Century Gothic" panose="020B0502020202020204" pitchFamily="34" charset="0"/>
                <a:ea typeface="Calibri" panose="020F0502020204030204" pitchFamily="34" charset="0"/>
                <a:cs typeface="Arial" panose="020B0604020202020204" pitchFamily="34" charset="0"/>
              </a:rPr>
              <a:t>Standard Deviation of ratings: 1.042529</a:t>
            </a:r>
            <a:endParaRPr lang="en-SA" sz="1800" dirty="0">
              <a:effectLst/>
              <a:latin typeface="Century Gothic" panose="020B0502020202020204" pitchFamily="34" charset="0"/>
              <a:ea typeface="Calibri" panose="020F0502020204030204" pitchFamily="34" charset="0"/>
              <a:cs typeface="Arial" panose="020B0604020202020204" pitchFamily="34" charset="0"/>
            </a:endParaRPr>
          </a:p>
          <a:p>
            <a:pPr marL="228600" indent="228600">
              <a:lnSpc>
                <a:spcPct val="107000"/>
              </a:lnSpc>
              <a:spcAft>
                <a:spcPts val="800"/>
              </a:spcAft>
            </a:pPr>
            <a:r>
              <a:rPr lang="en-US" sz="1800" dirty="0">
                <a:effectLst/>
                <a:latin typeface="Century Gothic" panose="020B0502020202020204" pitchFamily="34" charset="0"/>
                <a:ea typeface="Calibri" panose="020F0502020204030204" pitchFamily="34" charset="0"/>
                <a:cs typeface="Arial" panose="020B0604020202020204" pitchFamily="34" charset="0"/>
              </a:rPr>
              <a:t>Highest of rating: 5.0</a:t>
            </a:r>
            <a:endParaRPr lang="en-SA" sz="1800" dirty="0">
              <a:effectLst/>
              <a:latin typeface="Century Gothic" panose="020B0502020202020204" pitchFamily="34" charset="0"/>
              <a:ea typeface="Calibri" panose="020F0502020204030204" pitchFamily="34" charset="0"/>
              <a:cs typeface="Arial" panose="020B0604020202020204" pitchFamily="34" charset="0"/>
            </a:endParaRPr>
          </a:p>
          <a:p>
            <a:pPr marL="228600" indent="228600">
              <a:lnSpc>
                <a:spcPct val="107000"/>
              </a:lnSpc>
              <a:spcAft>
                <a:spcPts val="800"/>
              </a:spcAft>
            </a:pPr>
            <a:r>
              <a:rPr lang="en-US" sz="1800" dirty="0">
                <a:effectLst/>
                <a:latin typeface="Century Gothic" panose="020B0502020202020204" pitchFamily="34" charset="0"/>
                <a:ea typeface="Calibri" panose="020F0502020204030204" pitchFamily="34" charset="0"/>
                <a:cs typeface="Arial" panose="020B0604020202020204" pitchFamily="34" charset="0"/>
              </a:rPr>
              <a:t>Lowest of rating: 0.5</a:t>
            </a:r>
            <a:endParaRPr lang="en-SA" sz="1800" dirty="0">
              <a:effectLst/>
              <a:latin typeface="Century Gothic" panose="020B0502020202020204" pitchFamily="34" charset="0"/>
              <a:ea typeface="Calibri" panose="020F0502020204030204" pitchFamily="34" charset="0"/>
              <a:cs typeface="Arial" panose="020B0604020202020204" pitchFamily="34" charset="0"/>
            </a:endParaRPr>
          </a:p>
          <a:p>
            <a:endParaRPr lang="en-SA" dirty="0"/>
          </a:p>
        </p:txBody>
      </p:sp>
    </p:spTree>
    <p:extLst>
      <p:ext uri="{BB962C8B-B14F-4D97-AF65-F5344CB8AC3E}">
        <p14:creationId xmlns:p14="http://schemas.microsoft.com/office/powerpoint/2010/main" val="3938979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DFB1F-16BD-06FD-73F3-296C66616E98}"/>
              </a:ext>
            </a:extLst>
          </p:cNvPr>
          <p:cNvSpPr>
            <a:spLocks noGrp="1"/>
          </p:cNvSpPr>
          <p:nvPr>
            <p:ph type="title"/>
          </p:nvPr>
        </p:nvSpPr>
        <p:spPr>
          <a:xfrm>
            <a:off x="652887" y="617921"/>
            <a:ext cx="3482041" cy="3988585"/>
          </a:xfrm>
        </p:spPr>
        <p:txBody>
          <a:bodyPr vert="horz" lIns="91440" tIns="45720" rIns="91440" bIns="45720" rtlCol="0" anchor="ctr">
            <a:normAutofit/>
          </a:bodyPr>
          <a:lstStyle/>
          <a:p>
            <a:r>
              <a:rPr lang="en-US" kern="1200">
                <a:solidFill>
                  <a:schemeClr val="tx1"/>
                </a:solidFill>
                <a:latin typeface="+mj-lt"/>
                <a:ea typeface="+mj-ea"/>
                <a:cs typeface="+mj-cs"/>
              </a:rPr>
              <a:t>Ratings Histogram</a:t>
            </a:r>
          </a:p>
        </p:txBody>
      </p:sp>
      <p:pic>
        <p:nvPicPr>
          <p:cNvPr id="4" name="Content Placeholder 3" descr="A graph with blue bars&#10;&#10;Description automatically generated">
            <a:extLst>
              <a:ext uri="{FF2B5EF4-FFF2-40B4-BE49-F238E27FC236}">
                <a16:creationId xmlns:a16="http://schemas.microsoft.com/office/drawing/2014/main" id="{F08DE2BB-31E3-04C7-8248-A8433D4754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5199145" y="1206198"/>
            <a:ext cx="6409958" cy="4535045"/>
          </a:xfrm>
          <a:prstGeom prst="rect">
            <a:avLst/>
          </a:prstGeom>
          <a:noFill/>
        </p:spPr>
      </p:pic>
    </p:spTree>
    <p:extLst>
      <p:ext uri="{BB962C8B-B14F-4D97-AF65-F5344CB8AC3E}">
        <p14:creationId xmlns:p14="http://schemas.microsoft.com/office/powerpoint/2010/main" val="1980091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C61A8-607F-8530-E3E5-6C0A97F6458D}"/>
              </a:ext>
            </a:extLst>
          </p:cNvPr>
          <p:cNvSpPr>
            <a:spLocks noGrp="1"/>
          </p:cNvSpPr>
          <p:nvPr>
            <p:ph type="title"/>
          </p:nvPr>
        </p:nvSpPr>
        <p:spPr>
          <a:xfrm>
            <a:off x="838199" y="548464"/>
            <a:ext cx="3807187" cy="2228074"/>
          </a:xfrm>
        </p:spPr>
        <p:txBody>
          <a:bodyPr>
            <a:normAutofit/>
          </a:bodyPr>
          <a:lstStyle/>
          <a:p>
            <a:r>
              <a:rPr lang="en-SA" sz="4000"/>
              <a:t>Distribution of interactions</a:t>
            </a:r>
          </a:p>
        </p:txBody>
      </p:sp>
      <p:pic>
        <p:nvPicPr>
          <p:cNvPr id="4" name="Content Placeholder 3">
            <a:extLst>
              <a:ext uri="{FF2B5EF4-FFF2-40B4-BE49-F238E27FC236}">
                <a16:creationId xmlns:a16="http://schemas.microsoft.com/office/drawing/2014/main" id="{748111AA-2D45-5E92-15F9-A7EA523D7A84}"/>
              </a:ext>
            </a:extLst>
          </p:cNvPr>
          <p:cNvPicPr>
            <a:picLocks noChangeAspect="1"/>
          </p:cNvPicPr>
          <p:nvPr/>
        </p:nvPicPr>
        <p:blipFill>
          <a:blip r:embed="rId2" cstate="print">
            <a:extLst>
              <a:ext uri="{28A0092B-C50C-407E-A947-70E740481C1C}">
                <a14:useLocalDpi xmlns:a14="http://schemas.microsoft.com/office/drawing/2010/main" val="0"/>
              </a:ext>
            </a:extLst>
          </a:blip>
          <a:srcRect l="-645" r="3048" b="2"/>
          <a:stretch/>
        </p:blipFill>
        <p:spPr bwMode="auto">
          <a:xfrm>
            <a:off x="4645386" y="10"/>
            <a:ext cx="8040100" cy="6857990"/>
          </a:xfrm>
          <a:prstGeom prst="rect">
            <a:avLst/>
          </a:prstGeom>
          <a:noFill/>
          <a:effectLst/>
        </p:spPr>
      </p:pic>
    </p:spTree>
    <p:extLst>
      <p:ext uri="{BB962C8B-B14F-4D97-AF65-F5344CB8AC3E}">
        <p14:creationId xmlns:p14="http://schemas.microsoft.com/office/powerpoint/2010/main" val="1039579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0F474-F31D-80D5-8394-6462397CBC1F}"/>
              </a:ext>
            </a:extLst>
          </p:cNvPr>
          <p:cNvSpPr>
            <a:spLocks noGrp="1"/>
          </p:cNvSpPr>
          <p:nvPr>
            <p:ph type="title"/>
          </p:nvPr>
        </p:nvSpPr>
        <p:spPr/>
        <p:txBody>
          <a:bodyPr/>
          <a:lstStyle/>
          <a:p>
            <a:r>
              <a:rPr lang="en-SA"/>
              <a:t>Features correlations</a:t>
            </a:r>
            <a:endParaRPr lang="en-SA" dirty="0"/>
          </a:p>
        </p:txBody>
      </p:sp>
      <p:sp>
        <p:nvSpPr>
          <p:cNvPr id="3" name="Content Placeholder 2">
            <a:extLst>
              <a:ext uri="{FF2B5EF4-FFF2-40B4-BE49-F238E27FC236}">
                <a16:creationId xmlns:a16="http://schemas.microsoft.com/office/drawing/2014/main" id="{DF82FB47-041F-8480-9045-ACFCCEA112FD}"/>
              </a:ext>
            </a:extLst>
          </p:cNvPr>
          <p:cNvSpPr>
            <a:spLocks noGrp="1"/>
          </p:cNvSpPr>
          <p:nvPr>
            <p:ph idx="1"/>
          </p:nvPr>
        </p:nvSpPr>
        <p:spPr/>
        <p:txBody>
          <a:bodyPr/>
          <a:lstStyle/>
          <a:p>
            <a:pPr marL="457200">
              <a:lnSpc>
                <a:spcPct val="107000"/>
              </a:lnSpc>
              <a:spcAft>
                <a:spcPts val="800"/>
              </a:spcAft>
            </a:pPr>
            <a:r>
              <a:rPr lang="en-US" sz="1800" dirty="0">
                <a:effectLst/>
                <a:latin typeface="Century Gothic" panose="020B0502020202020204" pitchFamily="34" charset="0"/>
                <a:ea typeface="Calibri" panose="020F0502020204030204" pitchFamily="34" charset="0"/>
                <a:cs typeface="Arial" panose="020B0604020202020204" pitchFamily="34" charset="0"/>
              </a:rPr>
              <a:t>To make a correlation matrix that will explore relationships between features, we can only use numeric features from the dataset, listed below are the only features applicable to measuring correlation between each other:</a:t>
            </a:r>
            <a:endParaRPr lang="en-SA" sz="1800" dirty="0">
              <a:effectLst/>
              <a:latin typeface="Century Gothic" panose="020B0502020202020204" pitchFamily="34" charset="0"/>
              <a:ea typeface="Calibri" panose="020F0502020204030204" pitchFamily="34" charset="0"/>
              <a:cs typeface="Arial" panose="020B0604020202020204" pitchFamily="34" charset="0"/>
            </a:endParaRPr>
          </a:p>
          <a:p>
            <a:pPr marL="800100" lvl="1" indent="-342900">
              <a:lnSpc>
                <a:spcPct val="107000"/>
              </a:lnSpc>
              <a:buFont typeface="+mj-lt"/>
              <a:buAutoNum type="arabicPeriod"/>
            </a:pPr>
            <a:r>
              <a:rPr lang="en-US" sz="1400" dirty="0">
                <a:effectLst/>
                <a:latin typeface="Century Gothic" panose="020B0502020202020204" pitchFamily="34" charset="0"/>
                <a:ea typeface="Calibri" panose="020F0502020204030204" pitchFamily="34" charset="0"/>
                <a:cs typeface="Arial" panose="020B0604020202020204" pitchFamily="34" charset="0"/>
              </a:rPr>
              <a:t>Average Rating.</a:t>
            </a:r>
            <a:endParaRPr lang="en-SA" sz="1400" dirty="0">
              <a:effectLst/>
              <a:latin typeface="Century Gothic" panose="020B0502020202020204" pitchFamily="34" charset="0"/>
              <a:ea typeface="Calibri" panose="020F0502020204030204" pitchFamily="34" charset="0"/>
              <a:cs typeface="Arial" panose="020B0604020202020204" pitchFamily="34" charset="0"/>
            </a:endParaRPr>
          </a:p>
          <a:p>
            <a:pPr marL="800100" lvl="1" indent="-342900">
              <a:lnSpc>
                <a:spcPct val="107000"/>
              </a:lnSpc>
              <a:spcAft>
                <a:spcPts val="800"/>
              </a:spcAft>
              <a:buFont typeface="+mj-lt"/>
              <a:buAutoNum type="arabicPeriod"/>
            </a:pPr>
            <a:r>
              <a:rPr lang="en-US" sz="1400" dirty="0">
                <a:effectLst/>
                <a:latin typeface="Century Gothic" panose="020B0502020202020204" pitchFamily="34" charset="0"/>
                <a:ea typeface="Calibri" panose="020F0502020204030204" pitchFamily="34" charset="0"/>
                <a:cs typeface="Arial" panose="020B0604020202020204" pitchFamily="34" charset="0"/>
              </a:rPr>
              <a:t>Number of Rating (Popularity).</a:t>
            </a:r>
            <a:endParaRPr lang="en-US" sz="1400" dirty="0">
              <a:latin typeface="Century Gothic" panose="020B0502020202020204" pitchFamily="34" charset="0"/>
              <a:ea typeface="Calibri" panose="020F0502020204030204" pitchFamily="34" charset="0"/>
              <a:cs typeface="Arial" panose="020B0604020202020204" pitchFamily="34" charset="0"/>
            </a:endParaRPr>
          </a:p>
          <a:p>
            <a:pPr marL="457200" lvl="1" indent="0">
              <a:lnSpc>
                <a:spcPct val="107000"/>
              </a:lnSpc>
              <a:spcAft>
                <a:spcPts val="800"/>
              </a:spcAft>
              <a:buNone/>
            </a:pPr>
            <a:endParaRPr lang="en-SA" sz="1400" dirty="0">
              <a:effectLst/>
              <a:latin typeface="Century Gothic" panose="020B0502020202020204" pitchFamily="34" charset="0"/>
              <a:ea typeface="Calibri" panose="020F0502020204030204" pitchFamily="34" charset="0"/>
              <a:cs typeface="Arial" panose="020B0604020202020204" pitchFamily="34" charset="0"/>
            </a:endParaRPr>
          </a:p>
          <a:p>
            <a:r>
              <a:rPr lang="en-US" sz="1800" dirty="0">
                <a:effectLst/>
                <a:latin typeface="Century Gothic" panose="020B0502020202020204" pitchFamily="34" charset="0"/>
                <a:ea typeface="Calibri" panose="020F0502020204030204" pitchFamily="34" charset="0"/>
                <a:cs typeface="Arial" panose="020B0604020202020204" pitchFamily="34" charset="0"/>
              </a:rPr>
              <a:t>Other columns had unapplicable data to calculate a meaningful correlation. </a:t>
            </a:r>
            <a:endParaRPr lang="en-SA" dirty="0"/>
          </a:p>
        </p:txBody>
      </p:sp>
    </p:spTree>
    <p:extLst>
      <p:ext uri="{BB962C8B-B14F-4D97-AF65-F5344CB8AC3E}">
        <p14:creationId xmlns:p14="http://schemas.microsoft.com/office/powerpoint/2010/main" val="493572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66FB1-4289-1B26-EC09-2A3EA694DAFB}"/>
              </a:ext>
            </a:extLst>
          </p:cNvPr>
          <p:cNvSpPr>
            <a:spLocks noGrp="1"/>
          </p:cNvSpPr>
          <p:nvPr>
            <p:ph type="title"/>
          </p:nvPr>
        </p:nvSpPr>
        <p:spPr/>
        <p:txBody>
          <a:bodyPr/>
          <a:lstStyle/>
          <a:p>
            <a:r>
              <a:rPr lang="en-SA" dirty="0"/>
              <a:t>Correlation matrix</a:t>
            </a:r>
          </a:p>
        </p:txBody>
      </p:sp>
      <p:pic>
        <p:nvPicPr>
          <p:cNvPr id="5" name="Content Placeholder 4" descr="A screenshot of a paper&#10;&#10;Description automatically generated">
            <a:extLst>
              <a:ext uri="{FF2B5EF4-FFF2-40B4-BE49-F238E27FC236}">
                <a16:creationId xmlns:a16="http://schemas.microsoft.com/office/drawing/2014/main" id="{909B4C71-8BDA-90B4-5EE4-1FDA9852388F}"/>
              </a:ext>
            </a:extLst>
          </p:cNvPr>
          <p:cNvPicPr>
            <a:picLocks noGrp="1" noChangeAspect="1"/>
          </p:cNvPicPr>
          <p:nvPr>
            <p:ph idx="1"/>
          </p:nvPr>
        </p:nvPicPr>
        <p:blipFill>
          <a:blip r:embed="rId2"/>
          <a:stretch>
            <a:fillRect/>
          </a:stretch>
        </p:blipFill>
        <p:spPr>
          <a:xfrm>
            <a:off x="1728506" y="1825625"/>
            <a:ext cx="8734987" cy="4351338"/>
          </a:xfrm>
        </p:spPr>
      </p:pic>
    </p:spTree>
    <p:extLst>
      <p:ext uri="{BB962C8B-B14F-4D97-AF65-F5344CB8AC3E}">
        <p14:creationId xmlns:p14="http://schemas.microsoft.com/office/powerpoint/2010/main" val="2242293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700BD-1C2F-EA8F-B1E6-92A20F8D8FE6}"/>
              </a:ext>
            </a:extLst>
          </p:cNvPr>
          <p:cNvSpPr>
            <a:spLocks noGrp="1"/>
          </p:cNvSpPr>
          <p:nvPr>
            <p:ph type="title"/>
          </p:nvPr>
        </p:nvSpPr>
        <p:spPr>
          <a:xfrm>
            <a:off x="838200" y="2920448"/>
            <a:ext cx="10515600" cy="1017104"/>
          </a:xfrm>
        </p:spPr>
        <p:txBody>
          <a:bodyPr/>
          <a:lstStyle/>
          <a:p>
            <a:r>
              <a:rPr lang="en-SA" dirty="0"/>
              <a:t>Data cleaning &amp; preprocessing</a:t>
            </a:r>
          </a:p>
        </p:txBody>
      </p:sp>
    </p:spTree>
    <p:extLst>
      <p:ext uri="{BB962C8B-B14F-4D97-AF65-F5344CB8AC3E}">
        <p14:creationId xmlns:p14="http://schemas.microsoft.com/office/powerpoint/2010/main" val="509173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480E2-B61A-A153-356F-D69BEDCAE04C}"/>
              </a:ext>
            </a:extLst>
          </p:cNvPr>
          <p:cNvSpPr>
            <a:spLocks noGrp="1"/>
          </p:cNvSpPr>
          <p:nvPr>
            <p:ph type="title"/>
          </p:nvPr>
        </p:nvSpPr>
        <p:spPr/>
        <p:txBody>
          <a:bodyPr/>
          <a:lstStyle/>
          <a:p>
            <a:r>
              <a:rPr lang="en-SA" dirty="0"/>
              <a:t>Handling duplicates</a:t>
            </a:r>
          </a:p>
        </p:txBody>
      </p:sp>
      <p:sp>
        <p:nvSpPr>
          <p:cNvPr id="3" name="Content Placeholder 2">
            <a:extLst>
              <a:ext uri="{FF2B5EF4-FFF2-40B4-BE49-F238E27FC236}">
                <a16:creationId xmlns:a16="http://schemas.microsoft.com/office/drawing/2014/main" id="{4DBAF2FC-AB5E-D4B8-6BF0-651DADC39B55}"/>
              </a:ext>
            </a:extLst>
          </p:cNvPr>
          <p:cNvSpPr>
            <a:spLocks noGrp="1"/>
          </p:cNvSpPr>
          <p:nvPr>
            <p:ph idx="1"/>
          </p:nvPr>
        </p:nvSpPr>
        <p:spPr/>
        <p:txBody>
          <a:bodyPr/>
          <a:lstStyle/>
          <a:p>
            <a:r>
              <a:rPr lang="en-SA" dirty="0"/>
              <a:t>Tracking duplicates</a:t>
            </a:r>
          </a:p>
          <a:p>
            <a:pPr lvl="1"/>
            <a:r>
              <a:rPr lang="en-US" dirty="0"/>
              <a:t>T</a:t>
            </a:r>
            <a:r>
              <a:rPr lang="en-SA" dirty="0"/>
              <a:t>o check if there are any duplicates, we will use the following method:</a:t>
            </a:r>
          </a:p>
          <a:p>
            <a:pPr lvl="1"/>
            <a:endParaRPr lang="en-SA" dirty="0"/>
          </a:p>
          <a:p>
            <a:pPr lvl="1"/>
            <a:endParaRPr lang="en-SA" dirty="0"/>
          </a:p>
          <a:p>
            <a:pPr lvl="1"/>
            <a:endParaRPr lang="en-SA" dirty="0"/>
          </a:p>
          <a:p>
            <a:pPr lvl="1"/>
            <a:endParaRPr lang="en-SA" dirty="0"/>
          </a:p>
          <a:p>
            <a:pPr lvl="1"/>
            <a:r>
              <a:rPr lang="en-SA" dirty="0"/>
              <a:t>Since the output is 0, there are no duplicates in our dataset</a:t>
            </a:r>
          </a:p>
          <a:p>
            <a:pPr marL="457200" lvl="1" indent="0">
              <a:buNone/>
            </a:pPr>
            <a:endParaRPr lang="en-SA" dirty="0"/>
          </a:p>
          <a:p>
            <a:pPr marL="457200" lvl="1" indent="0">
              <a:buNone/>
            </a:pPr>
            <a:endParaRPr lang="en-SA" dirty="0"/>
          </a:p>
          <a:p>
            <a:pPr marL="457200" lvl="1" indent="0">
              <a:buNone/>
            </a:pPr>
            <a:endParaRPr lang="en-SA" dirty="0"/>
          </a:p>
          <a:p>
            <a:pPr marL="457200" lvl="1" indent="0">
              <a:buNone/>
            </a:pPr>
            <a:endParaRPr lang="en-SA" dirty="0"/>
          </a:p>
        </p:txBody>
      </p:sp>
      <p:pic>
        <p:nvPicPr>
          <p:cNvPr id="4" name="Picture 3">
            <a:extLst>
              <a:ext uri="{FF2B5EF4-FFF2-40B4-BE49-F238E27FC236}">
                <a16:creationId xmlns:a16="http://schemas.microsoft.com/office/drawing/2014/main" id="{D5AC0AF2-3B7E-0A59-B2EF-EA7505E47B2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13112" y="2683959"/>
            <a:ext cx="7063409" cy="1355314"/>
          </a:xfrm>
          <a:prstGeom prst="rect">
            <a:avLst/>
          </a:prstGeom>
          <a:noFill/>
          <a:ln>
            <a:noFill/>
          </a:ln>
        </p:spPr>
      </p:pic>
    </p:spTree>
    <p:extLst>
      <p:ext uri="{BB962C8B-B14F-4D97-AF65-F5344CB8AC3E}">
        <p14:creationId xmlns:p14="http://schemas.microsoft.com/office/powerpoint/2010/main" val="2269524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DA835-296B-5EFD-991D-CABEDCFA876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1D49C8E-E1B0-3D84-34CC-CE3768F34B0C}"/>
              </a:ext>
            </a:extLst>
          </p:cNvPr>
          <p:cNvSpPr/>
          <p:nvPr/>
        </p:nvSpPr>
        <p:spPr>
          <a:xfrm>
            <a:off x="5438775" y="1718715"/>
            <a:ext cx="1314450" cy="13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3</a:t>
            </a:r>
          </a:p>
        </p:txBody>
      </p:sp>
      <p:sp>
        <p:nvSpPr>
          <p:cNvPr id="6" name="TextBox 5">
            <a:extLst>
              <a:ext uri="{FF2B5EF4-FFF2-40B4-BE49-F238E27FC236}">
                <a16:creationId xmlns:a16="http://schemas.microsoft.com/office/drawing/2014/main" id="{C1C1FE72-4652-6638-3EF6-068F9947AA6B}"/>
              </a:ext>
            </a:extLst>
          </p:cNvPr>
          <p:cNvSpPr txBox="1"/>
          <p:nvPr/>
        </p:nvSpPr>
        <p:spPr>
          <a:xfrm>
            <a:off x="696516" y="3044278"/>
            <a:ext cx="10771584" cy="2308324"/>
          </a:xfrm>
          <a:prstGeom prst="rect">
            <a:avLst/>
          </a:prstGeom>
          <a:noFill/>
        </p:spPr>
        <p:txBody>
          <a:bodyPr wrap="square" rtlCol="0">
            <a:spAutoFit/>
          </a:bodyPr>
          <a:lstStyle/>
          <a:p>
            <a:pPr algn="ctr"/>
            <a:r>
              <a:rPr lang="en-US" sz="7200" dirty="0"/>
              <a:t>Collaborative Filtering (User-Based)</a:t>
            </a:r>
          </a:p>
        </p:txBody>
      </p:sp>
    </p:spTree>
    <p:extLst>
      <p:ext uri="{BB962C8B-B14F-4D97-AF65-F5344CB8AC3E}">
        <p14:creationId xmlns:p14="http://schemas.microsoft.com/office/powerpoint/2010/main" val="2970382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FAA72-5F42-F34F-3D0E-182B92338E04}"/>
              </a:ext>
            </a:extLst>
          </p:cNvPr>
          <p:cNvSpPr>
            <a:spLocks noGrp="1"/>
          </p:cNvSpPr>
          <p:nvPr>
            <p:ph type="title"/>
          </p:nvPr>
        </p:nvSpPr>
        <p:spPr>
          <a:xfrm>
            <a:off x="-1028700" y="500062"/>
            <a:ext cx="10515600" cy="1325563"/>
          </a:xfrm>
        </p:spPr>
        <p:txBody>
          <a:bodyPr/>
          <a:lstStyle/>
          <a:p>
            <a:pPr algn="ctr"/>
            <a:r>
              <a:rPr lang="en-US" dirty="0"/>
              <a:t>What is Collaborative Filtering ?</a:t>
            </a:r>
          </a:p>
        </p:txBody>
      </p:sp>
      <p:sp>
        <p:nvSpPr>
          <p:cNvPr id="3" name="Content Placeholder 2">
            <a:extLst>
              <a:ext uri="{FF2B5EF4-FFF2-40B4-BE49-F238E27FC236}">
                <a16:creationId xmlns:a16="http://schemas.microsoft.com/office/drawing/2014/main" id="{33FB2CAA-CBDC-89BD-D0DB-0494FDE5846A}"/>
              </a:ext>
            </a:extLst>
          </p:cNvPr>
          <p:cNvSpPr>
            <a:spLocks noGrp="1"/>
          </p:cNvSpPr>
          <p:nvPr>
            <p:ph idx="1"/>
          </p:nvPr>
        </p:nvSpPr>
        <p:spPr>
          <a:xfrm>
            <a:off x="571500" y="2111374"/>
            <a:ext cx="5524500" cy="3508375"/>
          </a:xfrm>
        </p:spPr>
        <p:txBody>
          <a:bodyPr>
            <a:normAutofit/>
          </a:bodyPr>
          <a:lstStyle/>
          <a:p>
            <a:pPr marL="0" indent="0">
              <a:buNone/>
            </a:pPr>
            <a:r>
              <a:rPr lang="en-US" dirty="0"/>
              <a:t>User-based collaborative filtering makes recommendation based on user-item interactions in the past. The assumption behind the algorithm is that similar users like similar movies.</a:t>
            </a:r>
          </a:p>
          <a:p>
            <a:pPr marL="0" indent="0">
              <a:buNone/>
            </a:pPr>
            <a:endParaRPr lang="en-US" dirty="0"/>
          </a:p>
          <a:p>
            <a:pPr marL="0" indent="0">
              <a:buNone/>
            </a:pPr>
            <a:endParaRPr lang="en-US" dirty="0"/>
          </a:p>
        </p:txBody>
      </p:sp>
      <p:pic>
        <p:nvPicPr>
          <p:cNvPr id="5" name="Picture 4" descr="A group of images of people and fruits&#10;&#10;Description automatically generated">
            <a:extLst>
              <a:ext uri="{FF2B5EF4-FFF2-40B4-BE49-F238E27FC236}">
                <a16:creationId xmlns:a16="http://schemas.microsoft.com/office/drawing/2014/main" id="{DD0C14ED-0D00-9A88-D827-7237AADD3D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1625" y="1504951"/>
            <a:ext cx="5470375" cy="5477668"/>
          </a:xfrm>
          <a:prstGeom prst="rect">
            <a:avLst/>
          </a:prstGeom>
        </p:spPr>
      </p:pic>
    </p:spTree>
    <p:extLst>
      <p:ext uri="{BB962C8B-B14F-4D97-AF65-F5344CB8AC3E}">
        <p14:creationId xmlns:p14="http://schemas.microsoft.com/office/powerpoint/2010/main" val="2588113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42AD5-29E8-5030-0AF3-0DF89E4D6FA8}"/>
              </a:ext>
            </a:extLst>
          </p:cNvPr>
          <p:cNvSpPr>
            <a:spLocks noGrp="1"/>
          </p:cNvSpPr>
          <p:nvPr>
            <p:ph type="title"/>
          </p:nvPr>
        </p:nvSpPr>
        <p:spPr/>
        <p:txBody>
          <a:bodyPr/>
          <a:lstStyle/>
          <a:p>
            <a:r>
              <a:rPr lang="en-US" sz="2800" dirty="0"/>
              <a:t>User-based collaborative filtering algorithm usually has the following steps:</a:t>
            </a:r>
            <a:endParaRPr lang="en-US" dirty="0"/>
          </a:p>
        </p:txBody>
      </p:sp>
      <p:sp>
        <p:nvSpPr>
          <p:cNvPr id="3" name="Content Placeholder 2">
            <a:extLst>
              <a:ext uri="{FF2B5EF4-FFF2-40B4-BE49-F238E27FC236}">
                <a16:creationId xmlns:a16="http://schemas.microsoft.com/office/drawing/2014/main" id="{EDA973B1-6E1F-B183-E36A-02A470271EE4}"/>
              </a:ext>
            </a:extLst>
          </p:cNvPr>
          <p:cNvSpPr>
            <a:spLocks noGrp="1"/>
          </p:cNvSpPr>
          <p:nvPr>
            <p:ph idx="1"/>
          </p:nvPr>
        </p:nvSpPr>
        <p:spPr>
          <a:xfrm>
            <a:off x="838200" y="2025650"/>
            <a:ext cx="10515600" cy="4351338"/>
          </a:xfrm>
        </p:spPr>
        <p:txBody>
          <a:bodyPr/>
          <a:lstStyle/>
          <a:p>
            <a:pPr marL="0" indent="0">
              <a:buNone/>
            </a:pPr>
            <a:r>
              <a:rPr lang="en-US" dirty="0"/>
              <a:t>1- Adding Movies Title</a:t>
            </a:r>
          </a:p>
          <a:p>
            <a:pPr marL="0" indent="0">
              <a:buNone/>
            </a:pPr>
            <a:r>
              <a:rPr lang="en-US" dirty="0"/>
              <a:t>2- Exploratory Data Analysis (EDA)</a:t>
            </a:r>
          </a:p>
          <a:p>
            <a:pPr marL="0" indent="0">
              <a:buNone/>
            </a:pPr>
            <a:r>
              <a:rPr lang="en-US" dirty="0"/>
              <a:t>3- Create User-Movie Matrix</a:t>
            </a:r>
          </a:p>
          <a:p>
            <a:pPr marL="0" indent="0">
              <a:buNone/>
            </a:pPr>
            <a:r>
              <a:rPr lang="en-US" dirty="0"/>
              <a:t>4- Data Normalization</a:t>
            </a:r>
          </a:p>
          <a:p>
            <a:pPr marL="0" indent="0">
              <a:buNone/>
            </a:pPr>
            <a:r>
              <a:rPr lang="en-US" dirty="0"/>
              <a:t>5- Identify Similar Users (Pearson Correlation)</a:t>
            </a:r>
          </a:p>
          <a:p>
            <a:pPr marL="0" indent="0">
              <a:buNone/>
            </a:pPr>
            <a:r>
              <a:rPr lang="en-US" dirty="0"/>
              <a:t>6- Narrow Down Item Pool</a:t>
            </a:r>
          </a:p>
          <a:p>
            <a:pPr marL="0" indent="0">
              <a:buNone/>
            </a:pPr>
            <a:r>
              <a:rPr lang="en-US" dirty="0"/>
              <a:t>7- Recommend Items</a:t>
            </a:r>
          </a:p>
          <a:p>
            <a:pPr marL="0" indent="0">
              <a:buNone/>
            </a:pPr>
            <a:endParaRPr lang="en-US" dirty="0"/>
          </a:p>
        </p:txBody>
      </p:sp>
    </p:spTree>
    <p:extLst>
      <p:ext uri="{BB962C8B-B14F-4D97-AF65-F5344CB8AC3E}">
        <p14:creationId xmlns:p14="http://schemas.microsoft.com/office/powerpoint/2010/main" val="3084057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772F7-7735-76BE-A3D7-AA811AA6E9E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D97468A-4A3C-7F19-DD48-EA83C4D3BC69}"/>
              </a:ext>
            </a:extLst>
          </p:cNvPr>
          <p:cNvSpPr/>
          <p:nvPr/>
        </p:nvSpPr>
        <p:spPr>
          <a:xfrm>
            <a:off x="5438775" y="1718715"/>
            <a:ext cx="1314450" cy="13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4</a:t>
            </a:r>
          </a:p>
        </p:txBody>
      </p:sp>
      <p:sp>
        <p:nvSpPr>
          <p:cNvPr id="6" name="TextBox 5">
            <a:extLst>
              <a:ext uri="{FF2B5EF4-FFF2-40B4-BE49-F238E27FC236}">
                <a16:creationId xmlns:a16="http://schemas.microsoft.com/office/drawing/2014/main" id="{DF9C1AFD-255A-112E-5A05-3680A2791673}"/>
              </a:ext>
            </a:extLst>
          </p:cNvPr>
          <p:cNvSpPr txBox="1"/>
          <p:nvPr/>
        </p:nvSpPr>
        <p:spPr>
          <a:xfrm>
            <a:off x="1934766" y="3044278"/>
            <a:ext cx="8322468" cy="2308324"/>
          </a:xfrm>
          <a:prstGeom prst="rect">
            <a:avLst/>
          </a:prstGeom>
          <a:noFill/>
        </p:spPr>
        <p:txBody>
          <a:bodyPr wrap="square" rtlCol="0">
            <a:spAutoFit/>
          </a:bodyPr>
          <a:lstStyle/>
          <a:p>
            <a:pPr algn="ctr"/>
            <a:r>
              <a:rPr lang="en-US" sz="7200" dirty="0"/>
              <a:t>Popular-Based Filtering (Extra)</a:t>
            </a:r>
          </a:p>
        </p:txBody>
      </p:sp>
    </p:spTree>
    <p:extLst>
      <p:ext uri="{BB962C8B-B14F-4D97-AF65-F5344CB8AC3E}">
        <p14:creationId xmlns:p14="http://schemas.microsoft.com/office/powerpoint/2010/main" val="2293966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D944E-38CA-79C2-D73F-D17728EC866D}"/>
              </a:ext>
            </a:extLst>
          </p:cNvPr>
          <p:cNvSpPr>
            <a:spLocks noGrp="1"/>
          </p:cNvSpPr>
          <p:nvPr>
            <p:ph type="title"/>
          </p:nvPr>
        </p:nvSpPr>
        <p:spPr/>
        <p:txBody>
          <a:bodyPr/>
          <a:lstStyle/>
          <a:p>
            <a:r>
              <a:rPr lang="en-US" dirty="0"/>
              <a:t>Popularity-Based Filtering</a:t>
            </a:r>
          </a:p>
        </p:txBody>
      </p:sp>
      <p:sp>
        <p:nvSpPr>
          <p:cNvPr id="3" name="Content Placeholder 2">
            <a:extLst>
              <a:ext uri="{FF2B5EF4-FFF2-40B4-BE49-F238E27FC236}">
                <a16:creationId xmlns:a16="http://schemas.microsoft.com/office/drawing/2014/main" id="{8F3A379F-8E8E-5E11-C1CC-A6A39358903A}"/>
              </a:ext>
            </a:extLst>
          </p:cNvPr>
          <p:cNvSpPr>
            <a:spLocks noGrp="1"/>
          </p:cNvSpPr>
          <p:nvPr>
            <p:ph idx="1"/>
          </p:nvPr>
        </p:nvSpPr>
        <p:spPr/>
        <p:txBody>
          <a:bodyPr/>
          <a:lstStyle/>
          <a:p>
            <a:r>
              <a:rPr lang="en-US" dirty="0"/>
              <a:t>The basic idea behind popularity-based filtering is that the movies that are generally popular among all users are recommended to new or existing users, assuming that they are probably going to like these movies.</a:t>
            </a:r>
          </a:p>
        </p:txBody>
      </p:sp>
    </p:spTree>
    <p:extLst>
      <p:ext uri="{BB962C8B-B14F-4D97-AF65-F5344CB8AC3E}">
        <p14:creationId xmlns:p14="http://schemas.microsoft.com/office/powerpoint/2010/main" val="1088185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65537-CBFF-1530-6E3C-1F5345D1C451}"/>
              </a:ext>
            </a:extLst>
          </p:cNvPr>
          <p:cNvSpPr>
            <a:spLocks noGrp="1"/>
          </p:cNvSpPr>
          <p:nvPr>
            <p:ph type="title"/>
          </p:nvPr>
        </p:nvSpPr>
        <p:spPr>
          <a:xfrm>
            <a:off x="630936" y="640080"/>
            <a:ext cx="4818888" cy="1481328"/>
          </a:xfrm>
        </p:spPr>
        <p:txBody>
          <a:bodyPr anchor="b">
            <a:normAutofit/>
          </a:bodyPr>
          <a:lstStyle/>
          <a:p>
            <a:r>
              <a:rPr lang="en-US" sz="5000"/>
              <a:t>Overall Popularity</a:t>
            </a:r>
          </a:p>
        </p:txBody>
      </p:sp>
      <p:sp>
        <p:nvSpPr>
          <p:cNvPr id="3" name="Content Placeholder 2">
            <a:extLst>
              <a:ext uri="{FF2B5EF4-FFF2-40B4-BE49-F238E27FC236}">
                <a16:creationId xmlns:a16="http://schemas.microsoft.com/office/drawing/2014/main" id="{3F142A55-918F-CD3C-3AEB-2BF1D1072587}"/>
              </a:ext>
            </a:extLst>
          </p:cNvPr>
          <p:cNvSpPr>
            <a:spLocks noGrp="1"/>
          </p:cNvSpPr>
          <p:nvPr>
            <p:ph idx="1"/>
          </p:nvPr>
        </p:nvSpPr>
        <p:spPr>
          <a:xfrm>
            <a:off x="630936" y="2660904"/>
            <a:ext cx="4818888" cy="3547872"/>
          </a:xfrm>
        </p:spPr>
        <p:txBody>
          <a:bodyPr anchor="t">
            <a:normAutofit/>
          </a:bodyPr>
          <a:lstStyle/>
          <a:p>
            <a:r>
              <a:rPr lang="en-US" sz="2200" dirty="0"/>
              <a:t>Ranking of the movies depends only on the total number of ratings a movie has received across the entire dataset. It doesn’t matter whether the ratings are high or low.</a:t>
            </a:r>
          </a:p>
        </p:txBody>
      </p:sp>
      <p:pic>
        <p:nvPicPr>
          <p:cNvPr id="4" name="Picture 3">
            <a:extLst>
              <a:ext uri="{FF2B5EF4-FFF2-40B4-BE49-F238E27FC236}">
                <a16:creationId xmlns:a16="http://schemas.microsoft.com/office/drawing/2014/main" id="{10D461A6-E5DD-68B3-B849-04E6855012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099048" y="1402358"/>
            <a:ext cx="5458968" cy="4053283"/>
          </a:xfrm>
          <a:prstGeom prst="rect">
            <a:avLst/>
          </a:prstGeom>
          <a:noFill/>
        </p:spPr>
      </p:pic>
    </p:spTree>
    <p:extLst>
      <p:ext uri="{BB962C8B-B14F-4D97-AF65-F5344CB8AC3E}">
        <p14:creationId xmlns:p14="http://schemas.microsoft.com/office/powerpoint/2010/main" val="4008878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72768-61CF-5D84-BF9A-E84513D3A205}"/>
              </a:ext>
            </a:extLst>
          </p:cNvPr>
          <p:cNvSpPr>
            <a:spLocks noGrp="1"/>
          </p:cNvSpPr>
          <p:nvPr>
            <p:ph type="title"/>
          </p:nvPr>
        </p:nvSpPr>
        <p:spPr>
          <a:xfrm>
            <a:off x="630936" y="639520"/>
            <a:ext cx="3429000" cy="1719072"/>
          </a:xfrm>
        </p:spPr>
        <p:txBody>
          <a:bodyPr anchor="b">
            <a:normAutofit/>
          </a:bodyPr>
          <a:lstStyle/>
          <a:p>
            <a:r>
              <a:rPr lang="en-US" sz="4200"/>
              <a:t>Average Rating Popularity </a:t>
            </a:r>
          </a:p>
        </p:txBody>
      </p:sp>
      <p:sp>
        <p:nvSpPr>
          <p:cNvPr id="3" name="Content Placeholder 2">
            <a:extLst>
              <a:ext uri="{FF2B5EF4-FFF2-40B4-BE49-F238E27FC236}">
                <a16:creationId xmlns:a16="http://schemas.microsoft.com/office/drawing/2014/main" id="{28D6D893-BCE7-8862-67C3-0FC5AD338441}"/>
              </a:ext>
            </a:extLst>
          </p:cNvPr>
          <p:cNvSpPr>
            <a:spLocks noGrp="1"/>
          </p:cNvSpPr>
          <p:nvPr>
            <p:ph idx="1"/>
          </p:nvPr>
        </p:nvSpPr>
        <p:spPr>
          <a:xfrm>
            <a:off x="630936" y="2807208"/>
            <a:ext cx="3429000" cy="3410712"/>
          </a:xfrm>
        </p:spPr>
        <p:txBody>
          <a:bodyPr anchor="t">
            <a:normAutofit/>
          </a:bodyPr>
          <a:lstStyle/>
          <a:p>
            <a:r>
              <a:rPr lang="en-US" sz="2200"/>
              <a:t>Rank movies based on their average rating instead of the count. This highlights the highest-rated movies.</a:t>
            </a:r>
          </a:p>
        </p:txBody>
      </p:sp>
      <p:pic>
        <p:nvPicPr>
          <p:cNvPr id="4" name="Picture 3">
            <a:extLst>
              <a:ext uri="{FF2B5EF4-FFF2-40B4-BE49-F238E27FC236}">
                <a16:creationId xmlns:a16="http://schemas.microsoft.com/office/drawing/2014/main" id="{C9EB8B7A-4B9D-6889-045E-D6928912ED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654296" y="1202550"/>
            <a:ext cx="6903720" cy="4452899"/>
          </a:xfrm>
          <a:prstGeom prst="rect">
            <a:avLst/>
          </a:prstGeom>
          <a:noFill/>
        </p:spPr>
      </p:pic>
    </p:spTree>
    <p:extLst>
      <p:ext uri="{BB962C8B-B14F-4D97-AF65-F5344CB8AC3E}">
        <p14:creationId xmlns:p14="http://schemas.microsoft.com/office/powerpoint/2010/main" val="1106667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93092-ABF7-56B7-EECC-F6900DA031E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65B33BF-3F1F-CFD8-1598-824B0FC1B518}"/>
              </a:ext>
            </a:extLst>
          </p:cNvPr>
          <p:cNvSpPr/>
          <p:nvPr/>
        </p:nvSpPr>
        <p:spPr>
          <a:xfrm>
            <a:off x="5438775" y="1718715"/>
            <a:ext cx="1314450" cy="13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5</a:t>
            </a:r>
          </a:p>
        </p:txBody>
      </p:sp>
      <p:sp>
        <p:nvSpPr>
          <p:cNvPr id="6" name="TextBox 5">
            <a:extLst>
              <a:ext uri="{FF2B5EF4-FFF2-40B4-BE49-F238E27FC236}">
                <a16:creationId xmlns:a16="http://schemas.microsoft.com/office/drawing/2014/main" id="{3666093E-1682-17FD-5824-7CC88B18350E}"/>
              </a:ext>
            </a:extLst>
          </p:cNvPr>
          <p:cNvSpPr txBox="1"/>
          <p:nvPr/>
        </p:nvSpPr>
        <p:spPr>
          <a:xfrm>
            <a:off x="1934766" y="3044278"/>
            <a:ext cx="8322468" cy="1200329"/>
          </a:xfrm>
          <a:prstGeom prst="rect">
            <a:avLst/>
          </a:prstGeom>
          <a:noFill/>
        </p:spPr>
        <p:txBody>
          <a:bodyPr wrap="square" rtlCol="0">
            <a:spAutoFit/>
          </a:bodyPr>
          <a:lstStyle/>
          <a:p>
            <a:pPr algn="ctr"/>
            <a:r>
              <a:rPr lang="en-US" sz="7200" dirty="0"/>
              <a:t>Conclusion</a:t>
            </a:r>
          </a:p>
        </p:txBody>
      </p:sp>
    </p:spTree>
    <p:extLst>
      <p:ext uri="{BB962C8B-B14F-4D97-AF65-F5344CB8AC3E}">
        <p14:creationId xmlns:p14="http://schemas.microsoft.com/office/powerpoint/2010/main" val="3381434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3A348-DF50-7E9B-2EBA-DAAA52254C0D}"/>
              </a:ext>
            </a:extLst>
          </p:cNvPr>
          <p:cNvSpPr>
            <a:spLocks noGrp="1"/>
          </p:cNvSpPr>
          <p:nvPr>
            <p:ph type="title"/>
          </p:nvPr>
        </p:nvSpPr>
        <p:spPr/>
        <p:txBody>
          <a:bodyPr/>
          <a:lstStyle/>
          <a:p>
            <a:r>
              <a:rPr lang="en-US" dirty="0"/>
              <a:t>Challenges And Difficulties </a:t>
            </a:r>
          </a:p>
        </p:txBody>
      </p:sp>
      <p:sp>
        <p:nvSpPr>
          <p:cNvPr id="3" name="Content Placeholder 2">
            <a:extLst>
              <a:ext uri="{FF2B5EF4-FFF2-40B4-BE49-F238E27FC236}">
                <a16:creationId xmlns:a16="http://schemas.microsoft.com/office/drawing/2014/main" id="{EACA8605-5F3E-4B68-3103-4E22F891E497}"/>
              </a:ext>
            </a:extLst>
          </p:cNvPr>
          <p:cNvSpPr>
            <a:spLocks noGrp="1"/>
          </p:cNvSpPr>
          <p:nvPr>
            <p:ph idx="1"/>
          </p:nvPr>
        </p:nvSpPr>
        <p:spPr/>
        <p:txBody>
          <a:bodyPr/>
          <a:lstStyle/>
          <a:p>
            <a:r>
              <a:rPr lang="en-US" dirty="0"/>
              <a:t>In the early start we used an amazon dataset that stores customers and the products they bought from the website. The dataset was inefficient and incomplete, it was missing product names, and the number of rows was too large which didn’t allow us to create a User-Item matrix due to our RAM not being able to handle its big size. We just couldn’t complete the project with that dataset so changed it to the current one.</a:t>
            </a:r>
          </a:p>
        </p:txBody>
      </p:sp>
    </p:spTree>
    <p:extLst>
      <p:ext uri="{BB962C8B-B14F-4D97-AF65-F5344CB8AC3E}">
        <p14:creationId xmlns:p14="http://schemas.microsoft.com/office/powerpoint/2010/main" val="65716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TotalTime>
  <Words>663</Words>
  <Application>Microsoft Office PowerPoint</Application>
  <PresentationFormat>Widescreen</PresentationFormat>
  <Paragraphs>100</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Adobe Gothic Std B</vt:lpstr>
      <vt:lpstr>Aptos</vt:lpstr>
      <vt:lpstr>Aptos Display</vt:lpstr>
      <vt:lpstr>Arial</vt:lpstr>
      <vt:lpstr>Century Gothic</vt:lpstr>
      <vt:lpstr>Office Theme</vt:lpstr>
      <vt:lpstr>ecommendation System</vt:lpstr>
      <vt:lpstr>PowerPoint Presentation</vt:lpstr>
      <vt:lpstr>PowerPoint Presentation</vt:lpstr>
      <vt:lpstr>Item Recommendation for Users</vt:lpstr>
      <vt:lpstr>PowerPoint Presentation</vt:lpstr>
      <vt:lpstr>PowerPoint Presentation</vt:lpstr>
      <vt:lpstr>Dataset</vt:lpstr>
      <vt:lpstr>Dataset source</vt:lpstr>
      <vt:lpstr>Missing and incomplete data</vt:lpstr>
      <vt:lpstr>Descriptive statistics</vt:lpstr>
      <vt:lpstr>Ratings Histogram</vt:lpstr>
      <vt:lpstr>Distribution of interactions</vt:lpstr>
      <vt:lpstr>Features correlations</vt:lpstr>
      <vt:lpstr>Correlation matrix</vt:lpstr>
      <vt:lpstr>Data cleaning &amp; preprocessing</vt:lpstr>
      <vt:lpstr>Handling duplicates</vt:lpstr>
      <vt:lpstr>PowerPoint Presentation</vt:lpstr>
      <vt:lpstr>What is Collaborative Filtering ?</vt:lpstr>
      <vt:lpstr>User-based collaborative filtering algorithm usually has the following steps:</vt:lpstr>
      <vt:lpstr>PowerPoint Presentation</vt:lpstr>
      <vt:lpstr>Popularity-Based Filtering</vt:lpstr>
      <vt:lpstr>Overall Popularity</vt:lpstr>
      <vt:lpstr>Average Rating Popularity </vt:lpstr>
      <vt:lpstr>PowerPoint Presentation</vt:lpstr>
      <vt:lpstr>Challenges And Difficulties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TBTwins .</dc:creator>
  <cp:lastModifiedBy>TBTwins .</cp:lastModifiedBy>
  <cp:revision>4</cp:revision>
  <dcterms:created xsi:type="dcterms:W3CDTF">2024-11-26T15:29:12Z</dcterms:created>
  <dcterms:modified xsi:type="dcterms:W3CDTF">2024-11-26T18:53:57Z</dcterms:modified>
</cp:coreProperties>
</file>